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8F77"/>
    <a:srgbClr val="F9F9F9"/>
    <a:srgbClr val="F0F3F7"/>
    <a:srgbClr val="A9CCE3"/>
    <a:srgbClr val="0C1B2A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539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9F9F9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6" name="Text 4"/>
          <p:cNvSpPr/>
          <p:nvPr/>
        </p:nvSpPr>
        <p:spPr>
          <a:xfrm>
            <a:off x="274319" y="314135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Avaliação e Recomendação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Linhas de Ônibus — Rio de Janeiro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2026.1 — UFRJ Analytica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6916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Lemos Indio do Brasil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20391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 Almeida de Aguiar Morel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23865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Pederneiras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273405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Barros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Menescal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Carneiro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Janeiro, 2026</a:t>
            </a:r>
            <a:endParaRPr lang="en-US" sz="1000" dirty="0"/>
          </a:p>
        </p:txBody>
      </p:sp>
      <p:pic>
        <p:nvPicPr>
          <p:cNvPr id="14" name="Picture 13" descr="A logo with a bus and pointers&#10;&#10;Description automatically generated">
            <a:extLst>
              <a:ext uri="{FF2B5EF4-FFF2-40B4-BE49-F238E27FC236}">
                <a16:creationId xmlns:a16="http://schemas.microsoft.com/office/drawing/2014/main" id="{8E8F626E-ADE3-1E5D-1BAD-A50C5DED27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430" t="9574" r="27408" b="11373"/>
          <a:stretch/>
        </p:blipFill>
        <p:spPr>
          <a:xfrm>
            <a:off x="535349" y="1045838"/>
            <a:ext cx="2404021" cy="2295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D7E"/>
                </a:solidFill>
              </a:rPr>
              <a:t>1 / 8</a:t>
            </a:r>
            <a:endParaRPr lang="en-US" sz="9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3F0357B2-CB13-12CE-7E08-B66E61FD53C0}"/>
              </a:ext>
            </a:extLst>
          </p:cNvPr>
          <p:cNvSpPr/>
          <p:nvPr/>
        </p:nvSpPr>
        <p:spPr>
          <a:xfrm>
            <a:off x="457200" y="8617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r>
              <a:rPr lang="en-US" sz="2000" b="1" i="1" dirty="0" err="1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</a:t>
            </a:r>
            <a:r>
              <a:rPr lang="en-US" sz="2000" b="1" i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dados para o Rio de Janeiro”</a:t>
            </a:r>
            <a:endParaRPr lang="en-US" sz="200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490E8A50-BCE7-111A-F828-B63992FEB256}"/>
              </a:ext>
            </a:extLst>
          </p:cNvPr>
          <p:cNvSpPr/>
          <p:nvPr/>
        </p:nvSpPr>
        <p:spPr>
          <a:xfrm>
            <a:off x="265814" y="143687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</a:t>
            </a:r>
            <a:r>
              <a:rPr lang="en-US" sz="1100" i="1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r>
              <a:rPr lang="en-US" sz="1100" i="1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Rio de Janeiro</a:t>
            </a:r>
            <a:endParaRPr lang="en-US" sz="1100" dirty="0">
              <a:solidFill>
                <a:srgbClr val="0C1B2A"/>
              </a:solidFill>
            </a:endParaRPr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F5455142-A74C-64CD-F84E-5BA1E9F5D300}"/>
              </a:ext>
            </a:extLst>
          </p:cNvPr>
          <p:cNvSpPr/>
          <p:nvPr/>
        </p:nvSpPr>
        <p:spPr>
          <a:xfrm>
            <a:off x="457200" y="1883484"/>
            <a:ext cx="2560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388BDDC9-40ED-A816-D053-98D6974591AF}"/>
              </a:ext>
            </a:extLst>
          </p:cNvPr>
          <p:cNvSpPr/>
          <p:nvPr/>
        </p:nvSpPr>
        <p:spPr>
          <a:xfrm>
            <a:off x="457200" y="1883484"/>
            <a:ext cx="2560320" cy="7315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DD73BFC7-5FB6-CC95-7A49-800997661645}"/>
              </a:ext>
            </a:extLst>
          </p:cNvPr>
          <p:cNvSpPr/>
          <p:nvPr/>
        </p:nvSpPr>
        <p:spPr>
          <a:xfrm>
            <a:off x="457200" y="19749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2.7M</a:t>
            </a:r>
            <a:endParaRPr lang="en-US" sz="2800" dirty="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67AD8955-3B72-62B7-63BE-A1CBB4601201}"/>
              </a:ext>
            </a:extLst>
          </p:cNvPr>
          <p:cNvSpPr/>
          <p:nvPr/>
        </p:nvSpPr>
        <p:spPr>
          <a:xfrm>
            <a:off x="457200" y="25052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diários de ônibus no Rio</a:t>
            </a:r>
            <a:endParaRPr lang="en-US" sz="10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4AB43F4E-E6EB-D139-B317-D00677EF3E26}"/>
              </a:ext>
            </a:extLst>
          </p:cNvPr>
          <p:cNvSpPr/>
          <p:nvPr/>
        </p:nvSpPr>
        <p:spPr>
          <a:xfrm>
            <a:off x="3383280" y="1883484"/>
            <a:ext cx="2560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0AD92B5C-4812-C97A-7E8E-DC1BBEF0AF7C}"/>
              </a:ext>
            </a:extLst>
          </p:cNvPr>
          <p:cNvSpPr/>
          <p:nvPr/>
        </p:nvSpPr>
        <p:spPr>
          <a:xfrm>
            <a:off x="3383280" y="1883484"/>
            <a:ext cx="25603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CE1EE739-92C2-03AE-B988-4D42065FFE6C}"/>
              </a:ext>
            </a:extLst>
          </p:cNvPr>
          <p:cNvSpPr/>
          <p:nvPr/>
        </p:nvSpPr>
        <p:spPr>
          <a:xfrm>
            <a:off x="3383280" y="19749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4.800</a:t>
            </a:r>
            <a:endParaRPr lang="en-US" sz="28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5FA99E2D-BE5D-24A7-D520-D73DC8F0E153}"/>
              </a:ext>
            </a:extLst>
          </p:cNvPr>
          <p:cNvSpPr/>
          <p:nvPr/>
        </p:nvSpPr>
        <p:spPr>
          <a:xfrm>
            <a:off x="3383280" y="25052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ocorrências de violência armada (2023)</a:t>
            </a:r>
            <a:endParaRPr lang="en-US" sz="1000" dirty="0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CAA780B6-3447-2691-9F5E-387ADD9F59F7}"/>
              </a:ext>
            </a:extLst>
          </p:cNvPr>
          <p:cNvSpPr/>
          <p:nvPr/>
        </p:nvSpPr>
        <p:spPr>
          <a:xfrm>
            <a:off x="6207287" y="1883484"/>
            <a:ext cx="2560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2129F98E-7BAD-A03C-A5B8-62753CBEA59D}"/>
              </a:ext>
            </a:extLst>
          </p:cNvPr>
          <p:cNvSpPr/>
          <p:nvPr/>
        </p:nvSpPr>
        <p:spPr>
          <a:xfrm>
            <a:off x="6207287" y="1883484"/>
            <a:ext cx="256032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ECF7E54B-7AFE-FDE2-85FA-713B2F042333}"/>
              </a:ext>
            </a:extLst>
          </p:cNvPr>
          <p:cNvSpPr/>
          <p:nvPr/>
        </p:nvSpPr>
        <p:spPr>
          <a:xfrm>
            <a:off x="6207287" y="19749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C09C38E9-B16E-5B36-73F2-789EC62410D8}"/>
              </a:ext>
            </a:extLst>
          </p:cNvPr>
          <p:cNvSpPr/>
          <p:nvPr/>
        </p:nvSpPr>
        <p:spPr>
          <a:xfrm>
            <a:off x="6207287" y="2250945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precarizado</a:t>
            </a:r>
            <a:endParaRPr lang="en-US" sz="1000" dirty="0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892BF853-2A06-83A1-AE45-F34F216D673D}"/>
              </a:ext>
            </a:extLst>
          </p:cNvPr>
          <p:cNvSpPr/>
          <p:nvPr/>
        </p:nvSpPr>
        <p:spPr>
          <a:xfrm>
            <a:off x="376393" y="2971620"/>
            <a:ext cx="8412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FA0F7B94-6653-787C-D709-FDF231AAB0D3}"/>
              </a:ext>
            </a:extLst>
          </p:cNvPr>
          <p:cNvSpPr/>
          <p:nvPr/>
        </p:nvSpPr>
        <p:spPr>
          <a:xfrm>
            <a:off x="376393" y="2971620"/>
            <a:ext cx="64008" cy="96012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19940408-BFE2-7E89-5673-7D20AF0D3973}"/>
              </a:ext>
            </a:extLst>
          </p:cNvPr>
          <p:cNvSpPr/>
          <p:nvPr/>
        </p:nvSpPr>
        <p:spPr>
          <a:xfrm>
            <a:off x="604993" y="303562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lacuna: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como Cittamobi e Moovit indicam tempo e custo, mas ignoram completamente a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trajeto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Nenhuma solução disponível cruza dados de criminalidade com rotas de ônibus.</a:t>
            </a:r>
            <a:endParaRPr lang="en-US" sz="13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FE843F-C26B-8026-92FD-4F6ED695AA7F}"/>
              </a:ext>
            </a:extLst>
          </p:cNvPr>
          <p:cNvSpPr txBox="1"/>
          <p:nvPr/>
        </p:nvSpPr>
        <p:spPr>
          <a:xfrm>
            <a:off x="757202" y="4248020"/>
            <a:ext cx="77423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O </a:t>
            </a:r>
            <a:r>
              <a:rPr lang="en-US" sz="1200" b="1" i="0" u="none" strike="noStrike" dirty="0" err="1">
                <a:solidFill>
                  <a:srgbClr val="138F77"/>
                </a:solidFill>
                <a:effectLst/>
              </a:rPr>
              <a:t>NovaRota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 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é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um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sistema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inteligente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que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classifica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e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recomenda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linhas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de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ônibus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no Rio de Janeiro a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partir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de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informações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sobre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segurança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,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eficiência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,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conforto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e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acessibilidade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,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ajudando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na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escolha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de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rotas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mais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adequadas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às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suas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 </a:t>
            </a:r>
            <a:r>
              <a:rPr lang="en-US" sz="1200" i="0" u="none" strike="noStrike" dirty="0" err="1">
                <a:solidFill>
                  <a:srgbClr val="138F77"/>
                </a:solidFill>
                <a:effectLst/>
              </a:rPr>
              <a:t>necessidades</a:t>
            </a:r>
            <a:r>
              <a:rPr lang="en-US" sz="1200" i="0" u="none" strike="noStrike" dirty="0">
                <a:solidFill>
                  <a:srgbClr val="138F77"/>
                </a:solidFill>
                <a:effectLst/>
              </a:rPr>
              <a:t>.</a:t>
            </a:r>
            <a:endParaRPr lang="x-none" sz="1200" dirty="0">
              <a:solidFill>
                <a:srgbClr val="138F77"/>
              </a:solidFill>
            </a:endParaRPr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1CFB361C-3DA2-33C4-EA20-1F38E656C649}"/>
              </a:ext>
            </a:extLst>
          </p:cNvPr>
          <p:cNvSpPr/>
          <p:nvPr/>
        </p:nvSpPr>
        <p:spPr>
          <a:xfrm>
            <a:off x="182880" y="4040019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100" dirty="0">
              <a:solidFill>
                <a:srgbClr val="0C1B2A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E6F0DF0-0D82-F2B2-7AF4-9CF8D1C72637}"/>
              </a:ext>
            </a:extLst>
          </p:cNvPr>
          <p:cNvGrpSpPr/>
          <p:nvPr/>
        </p:nvGrpSpPr>
        <p:grpSpPr>
          <a:xfrm>
            <a:off x="8453789" y="92226"/>
            <a:ext cx="542891" cy="527714"/>
            <a:chOff x="517242" y="3883937"/>
            <a:chExt cx="2422127" cy="2295270"/>
          </a:xfrm>
        </p:grpSpPr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5D369B95-F073-145C-8187-79841156F05B}"/>
                </a:ext>
              </a:extLst>
            </p:cNvPr>
            <p:cNvSpPr/>
            <p:nvPr/>
          </p:nvSpPr>
          <p:spPr>
            <a:xfrm>
              <a:off x="517242" y="3883937"/>
              <a:ext cx="2422127" cy="2295270"/>
            </a:xfrm>
            <a:prstGeom prst="ellipse">
              <a:avLst/>
            </a:prstGeom>
            <a:solidFill>
              <a:srgbClr val="F9F9F9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50" name="Picture 49" descr="A logo with a bus and pointers&#10;&#10;Description automatically generated">
              <a:extLst>
                <a:ext uri="{FF2B5EF4-FFF2-40B4-BE49-F238E27FC236}">
                  <a16:creationId xmlns:a16="http://schemas.microsoft.com/office/drawing/2014/main" id="{10F46A40-5DD8-CDB3-29A0-B4CCC33D61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7430" t="9574" r="27408" b="28348"/>
            <a:stretch/>
          </p:blipFill>
          <p:spPr>
            <a:xfrm>
              <a:off x="535348" y="4081828"/>
              <a:ext cx="2404021" cy="1802393"/>
            </a:xfrm>
            <a:prstGeom prst="ellipse">
              <a:avLst/>
            </a:prstGeom>
          </p:spPr>
        </p:pic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EEF84727-99BB-E2D8-FA86-B549EE0DBA6B}"/>
              </a:ext>
            </a:extLst>
          </p:cNvPr>
          <p:cNvSpPr/>
          <p:nvPr/>
        </p:nvSpPr>
        <p:spPr>
          <a:xfrm>
            <a:off x="8419500" y="59361"/>
            <a:ext cx="608535" cy="596520"/>
          </a:xfrm>
          <a:prstGeom prst="ellipse">
            <a:avLst/>
          </a:prstGeom>
          <a:noFill/>
          <a:ln w="19050">
            <a:solidFill>
              <a:srgbClr val="138F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Tratamento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utilizadas, limpeza e integração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D7E"/>
                </a:solidFill>
              </a:rPr>
              <a:t>2 / 8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78152"/>
              </p:ext>
            </p:extLst>
          </p:nvPr>
        </p:nvGraphicFramePr>
        <p:xfrm>
          <a:off x="365760" y="1349229"/>
          <a:ext cx="8412480" cy="14630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fornece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SMTR — GTFS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Rotas, paradas, traçados geométricos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485k paradas · 37k rotas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SMTR — Viagem Informada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 de </a:t>
                      </a:r>
                      <a:r>
                        <a:rPr lang="en-US" sz="11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partida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r>
                        <a:rPr lang="en-US" sz="1100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chegada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AC, ano de fabricação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256k viagens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SMTR — Tarifas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por linha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1.023 tarifas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Fogo Cruzado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Ocorrências de violência armada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4.800 registros (2023)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2995149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9" name="Shape 6"/>
          <p:cNvSpPr/>
          <p:nvPr/>
        </p:nvSpPr>
        <p:spPr>
          <a:xfrm>
            <a:off x="365760" y="2995149"/>
            <a:ext cx="201168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0" name="Text 7"/>
          <p:cNvSpPr/>
          <p:nvPr/>
        </p:nvSpPr>
        <p:spPr>
          <a:xfrm>
            <a:off x="457200" y="3104877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Deduplicação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479781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mais recente por stop_id,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route_id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shape_id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tarifa_id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veículo_id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14600" y="2995149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13" name="Shape 10"/>
          <p:cNvSpPr/>
          <p:nvPr/>
        </p:nvSpPr>
        <p:spPr>
          <a:xfrm>
            <a:off x="2514600" y="2995149"/>
            <a:ext cx="2011680" cy="640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4" name="Text 11"/>
          <p:cNvSpPr/>
          <p:nvPr/>
        </p:nvSpPr>
        <p:spPr>
          <a:xfrm>
            <a:off x="2606040" y="3104877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&amp; Outliers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06040" y="3479781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691 crimes duplicados removidos. Paradas sem lat/lon excluídas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2995149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17" name="Shape 14"/>
          <p:cNvSpPr/>
          <p:nvPr/>
        </p:nvSpPr>
        <p:spPr>
          <a:xfrm>
            <a:off x="4663440" y="2995149"/>
            <a:ext cx="201168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8" name="Text 15"/>
          <p:cNvSpPr/>
          <p:nvPr/>
        </p:nvSpPr>
        <p:spPr>
          <a:xfrm>
            <a:off x="4754880" y="3104877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54880" y="3479781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para datetime, bairros para maiúsculas, tipos de crime filtrados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812280" y="2995149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21" name="Shape 18"/>
          <p:cNvSpPr/>
          <p:nvPr/>
        </p:nvSpPr>
        <p:spPr>
          <a:xfrm>
            <a:off x="6812280" y="2995149"/>
            <a:ext cx="2011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22" name="Text 19"/>
          <p:cNvSpPr/>
          <p:nvPr/>
        </p:nvSpPr>
        <p:spPr>
          <a:xfrm>
            <a:off x="6903720" y="3104877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903720" y="3479781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datasets integrados em 3 datasets base: linhas, stops e crimes e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dataset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importantes</a:t>
            </a:r>
            <a:endParaRPr lang="en-US" sz="10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9E82A2A-317E-088B-C332-DEC44B7A70AF}"/>
              </a:ext>
            </a:extLst>
          </p:cNvPr>
          <p:cNvGrpSpPr/>
          <p:nvPr/>
        </p:nvGrpSpPr>
        <p:grpSpPr>
          <a:xfrm>
            <a:off x="8453789" y="92226"/>
            <a:ext cx="542891" cy="527714"/>
            <a:chOff x="517242" y="3883937"/>
            <a:chExt cx="2422127" cy="2295270"/>
          </a:xfrm>
        </p:grpSpPr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186697D3-63C1-A228-5F0B-8FEA24F8D60C}"/>
                </a:ext>
              </a:extLst>
            </p:cNvPr>
            <p:cNvSpPr/>
            <p:nvPr/>
          </p:nvSpPr>
          <p:spPr>
            <a:xfrm>
              <a:off x="517242" y="3883937"/>
              <a:ext cx="2422127" cy="2295270"/>
            </a:xfrm>
            <a:prstGeom prst="ellipse">
              <a:avLst/>
            </a:prstGeom>
            <a:solidFill>
              <a:srgbClr val="F9F9F9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31" name="Picture 30" descr="A logo with a bus and pointers&#10;&#10;Description automatically generated">
              <a:extLst>
                <a:ext uri="{FF2B5EF4-FFF2-40B4-BE49-F238E27FC236}">
                  <a16:creationId xmlns:a16="http://schemas.microsoft.com/office/drawing/2014/main" id="{0DBAA56B-62FE-128A-DF22-C80C6A74B9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7430" t="9574" r="27408" b="28348"/>
            <a:stretch/>
          </p:blipFill>
          <p:spPr>
            <a:xfrm>
              <a:off x="535348" y="4081828"/>
              <a:ext cx="2404021" cy="1802393"/>
            </a:xfrm>
            <a:prstGeom prst="ellipse">
              <a:avLst/>
            </a:prstGeom>
          </p:spPr>
        </p:pic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15F9607F-7B89-5664-20B1-0CCE6998CAE6}"/>
              </a:ext>
            </a:extLst>
          </p:cNvPr>
          <p:cNvSpPr/>
          <p:nvPr/>
        </p:nvSpPr>
        <p:spPr>
          <a:xfrm>
            <a:off x="8419500" y="59361"/>
            <a:ext cx="608535" cy="596520"/>
          </a:xfrm>
          <a:prstGeom prst="ellipse">
            <a:avLst/>
          </a:prstGeom>
          <a:noFill/>
          <a:ln w="19050">
            <a:solidFill>
              <a:srgbClr val="138F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0" y="754573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Agregação e Geoprocessamento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1804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espacial entre crimes, paradas e linhas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D7E"/>
                </a:solidFill>
              </a:rPr>
              <a:t>3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31561"/>
            <a:ext cx="2560320" cy="110642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8" name="Shape 6"/>
          <p:cNvSpPr/>
          <p:nvPr/>
        </p:nvSpPr>
        <p:spPr>
          <a:xfrm>
            <a:off x="365760" y="1031560"/>
            <a:ext cx="2560320" cy="7315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9" name="Text 7"/>
          <p:cNvSpPr/>
          <p:nvPr/>
        </p:nvSpPr>
        <p:spPr>
          <a:xfrm>
            <a:off x="475488" y="115043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Buffer 500m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parada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357592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crimes do Fogo Cruzado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raio de 500m de cada parada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031560"/>
            <a:ext cx="2560320" cy="11064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12" name="Shape 10"/>
          <p:cNvSpPr/>
          <p:nvPr/>
        </p:nvSpPr>
        <p:spPr>
          <a:xfrm>
            <a:off x="3291840" y="1031560"/>
            <a:ext cx="2560320" cy="7315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3" name="Text 11"/>
          <p:cNvSpPr/>
          <p:nvPr/>
        </p:nvSpPr>
        <p:spPr>
          <a:xfrm>
            <a:off x="3401568" y="115043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Buffer 50m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linha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96996" y="1364736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 paradas às linhas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traçado geométrico (GTFS)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031560"/>
            <a:ext cx="2560320" cy="1106425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16" name="Shape 14"/>
          <p:cNvSpPr/>
          <p:nvPr/>
        </p:nvSpPr>
        <p:spPr>
          <a:xfrm>
            <a:off x="6217920" y="1031560"/>
            <a:ext cx="256032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7" name="Text 15"/>
          <p:cNvSpPr/>
          <p:nvPr/>
        </p:nvSpPr>
        <p:spPr>
          <a:xfrm>
            <a:off x="6327648" y="115043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Agregação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linha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3076" y="1399526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features de risco: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crimes_medio, crimes_max,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pct_sem_crime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71800" y="1900240"/>
            <a:ext cx="320040" cy="0"/>
          </a:xfrm>
          <a:prstGeom prst="line">
            <a:avLst/>
          </a:prstGeom>
          <a:noFill/>
          <a:ln w="19050">
            <a:solidFill>
              <a:srgbClr val="717D7E"/>
            </a:solidFill>
            <a:prstDash val="solid"/>
            <a:tailEnd type="arrow"/>
          </a:ln>
        </p:spPr>
        <p:txBody>
          <a:bodyPr/>
          <a:lstStyle/>
          <a:p>
            <a:endParaRPr lang="x-none"/>
          </a:p>
        </p:txBody>
      </p:sp>
      <p:sp>
        <p:nvSpPr>
          <p:cNvPr id="20" name="Shape 18"/>
          <p:cNvSpPr/>
          <p:nvPr/>
        </p:nvSpPr>
        <p:spPr>
          <a:xfrm>
            <a:off x="5897880" y="1900240"/>
            <a:ext cx="320040" cy="0"/>
          </a:xfrm>
          <a:prstGeom prst="line">
            <a:avLst/>
          </a:prstGeom>
          <a:noFill/>
          <a:ln w="19050">
            <a:solidFill>
              <a:srgbClr val="717D7E"/>
            </a:solidFill>
            <a:prstDash val="solid"/>
            <a:tailEnd type="arrow"/>
          </a:ln>
        </p:spPr>
        <p:txBody>
          <a:bodyPr/>
          <a:lstStyle/>
          <a:p>
            <a:endParaRPr lang="x-none"/>
          </a:p>
        </p:txBody>
      </p:sp>
      <p:sp>
        <p:nvSpPr>
          <p:cNvPr id="41" name="Shape 24">
            <a:extLst>
              <a:ext uri="{FF2B5EF4-FFF2-40B4-BE49-F238E27FC236}">
                <a16:creationId xmlns:a16="http://schemas.microsoft.com/office/drawing/2014/main" id="{71D6921A-D508-8BB0-220F-1F5C2D28AE2F}"/>
              </a:ext>
            </a:extLst>
          </p:cNvPr>
          <p:cNvSpPr/>
          <p:nvPr/>
        </p:nvSpPr>
        <p:spPr>
          <a:xfrm>
            <a:off x="853255" y="2458167"/>
            <a:ext cx="3443274" cy="58243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pic>
        <p:nvPicPr>
          <p:cNvPr id="39" name="Picture 38" descr="A map of orange and blue dots&#10;&#10;Description automatically generated">
            <a:extLst>
              <a:ext uri="{FF2B5EF4-FFF2-40B4-BE49-F238E27FC236}">
                <a16:creationId xmlns:a16="http://schemas.microsoft.com/office/drawing/2014/main" id="{A23BECAD-8B28-E422-B377-1FE820989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" y="2508564"/>
            <a:ext cx="3435469" cy="2317122"/>
          </a:xfrm>
          <a:prstGeom prst="rect">
            <a:avLst/>
          </a:prstGeom>
        </p:spPr>
      </p:pic>
      <p:sp>
        <p:nvSpPr>
          <p:cNvPr id="42" name="Shape 19">
            <a:extLst>
              <a:ext uri="{FF2B5EF4-FFF2-40B4-BE49-F238E27FC236}">
                <a16:creationId xmlns:a16="http://schemas.microsoft.com/office/drawing/2014/main" id="{F9B728B1-941A-3A44-8B2F-D93D528E3C77}"/>
              </a:ext>
            </a:extLst>
          </p:cNvPr>
          <p:cNvSpPr/>
          <p:nvPr/>
        </p:nvSpPr>
        <p:spPr>
          <a:xfrm>
            <a:off x="4719671" y="2485948"/>
            <a:ext cx="1498249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DA1C0450-1668-44DA-FF2E-B6D674B53716}"/>
              </a:ext>
            </a:extLst>
          </p:cNvPr>
          <p:cNvSpPr/>
          <p:nvPr/>
        </p:nvSpPr>
        <p:spPr>
          <a:xfrm>
            <a:off x="4719671" y="2485948"/>
            <a:ext cx="1498249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B05A167B-24D5-9EB1-20A7-E8DBAFFD8B11}"/>
              </a:ext>
            </a:extLst>
          </p:cNvPr>
          <p:cNvSpPr/>
          <p:nvPr/>
        </p:nvSpPr>
        <p:spPr>
          <a:xfrm>
            <a:off x="4719671" y="2577388"/>
            <a:ext cx="14982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</a:t>
            </a:r>
            <a:endParaRPr lang="en-US" sz="2800" dirty="0"/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A1A25106-CDC3-65D9-3CED-C7AAE04203B0}"/>
              </a:ext>
            </a:extLst>
          </p:cNvPr>
          <p:cNvSpPr/>
          <p:nvPr/>
        </p:nvSpPr>
        <p:spPr>
          <a:xfrm>
            <a:off x="4719671" y="3107740"/>
            <a:ext cx="14982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classificadas</a:t>
            </a:r>
            <a:endParaRPr lang="en-US" sz="1000" dirty="0"/>
          </a:p>
        </p:txBody>
      </p:sp>
      <p:sp>
        <p:nvSpPr>
          <p:cNvPr id="46" name="Shape 23">
            <a:extLst>
              <a:ext uri="{FF2B5EF4-FFF2-40B4-BE49-F238E27FC236}">
                <a16:creationId xmlns:a16="http://schemas.microsoft.com/office/drawing/2014/main" id="{C8876295-627E-0CA7-BB1B-C38D5833C0CC}"/>
              </a:ext>
            </a:extLst>
          </p:cNvPr>
          <p:cNvSpPr/>
          <p:nvPr/>
        </p:nvSpPr>
        <p:spPr>
          <a:xfrm>
            <a:off x="6365590" y="2472232"/>
            <a:ext cx="1498249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E5DF0CE0-69AD-B5E2-1651-A844DEC1779F}"/>
              </a:ext>
            </a:extLst>
          </p:cNvPr>
          <p:cNvSpPr/>
          <p:nvPr/>
        </p:nvSpPr>
        <p:spPr>
          <a:xfrm>
            <a:off x="6365590" y="2472232"/>
            <a:ext cx="1498249" cy="7315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4F3F0BAE-8ACC-922E-3BF5-4D3D9C10390C}"/>
              </a:ext>
            </a:extLst>
          </p:cNvPr>
          <p:cNvSpPr/>
          <p:nvPr/>
        </p:nvSpPr>
        <p:spPr>
          <a:xfrm>
            <a:off x="6365590" y="2563672"/>
            <a:ext cx="14982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8.766</a:t>
            </a:r>
            <a:endParaRPr lang="en-US" sz="2800" dirty="0"/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D30136A5-9F3F-5F0A-5201-5CC289E93272}"/>
              </a:ext>
            </a:extLst>
          </p:cNvPr>
          <p:cNvSpPr/>
          <p:nvPr/>
        </p:nvSpPr>
        <p:spPr>
          <a:xfrm>
            <a:off x="6365590" y="3094024"/>
            <a:ext cx="14982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paradas únicas</a:t>
            </a:r>
            <a:endParaRPr lang="en-US" sz="1000" dirty="0"/>
          </a:p>
        </p:txBody>
      </p:sp>
      <p:sp>
        <p:nvSpPr>
          <p:cNvPr id="50" name="Shape 27">
            <a:extLst>
              <a:ext uri="{FF2B5EF4-FFF2-40B4-BE49-F238E27FC236}">
                <a16:creationId xmlns:a16="http://schemas.microsoft.com/office/drawing/2014/main" id="{9A33D2D3-FE7F-815E-7837-194D6C57DDE8}"/>
              </a:ext>
            </a:extLst>
          </p:cNvPr>
          <p:cNvSpPr/>
          <p:nvPr/>
        </p:nvSpPr>
        <p:spPr>
          <a:xfrm>
            <a:off x="4719671" y="3775356"/>
            <a:ext cx="1498249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51" name="Shape 28">
            <a:extLst>
              <a:ext uri="{FF2B5EF4-FFF2-40B4-BE49-F238E27FC236}">
                <a16:creationId xmlns:a16="http://schemas.microsoft.com/office/drawing/2014/main" id="{683B7A6E-9662-DCF2-7EA3-5C79D33EF182}"/>
              </a:ext>
            </a:extLst>
          </p:cNvPr>
          <p:cNvSpPr/>
          <p:nvPr/>
        </p:nvSpPr>
        <p:spPr>
          <a:xfrm>
            <a:off x="4719671" y="3775356"/>
            <a:ext cx="1498249" cy="7315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52" name="Text 29">
            <a:extLst>
              <a:ext uri="{FF2B5EF4-FFF2-40B4-BE49-F238E27FC236}">
                <a16:creationId xmlns:a16="http://schemas.microsoft.com/office/drawing/2014/main" id="{018CF024-D76A-6363-4B58-1BBBF7868B57}"/>
              </a:ext>
            </a:extLst>
          </p:cNvPr>
          <p:cNvSpPr/>
          <p:nvPr/>
        </p:nvSpPr>
        <p:spPr>
          <a:xfrm>
            <a:off x="4719671" y="3866796"/>
            <a:ext cx="14982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293k</a:t>
            </a:r>
            <a:endParaRPr lang="en-US" sz="2800" dirty="0"/>
          </a:p>
        </p:txBody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373D271E-9C96-EECF-EA5F-B1CB5E572974}"/>
              </a:ext>
            </a:extLst>
          </p:cNvPr>
          <p:cNvSpPr/>
          <p:nvPr/>
        </p:nvSpPr>
        <p:spPr>
          <a:xfrm>
            <a:off x="4719671" y="4397148"/>
            <a:ext cx="14982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associações parada-linha</a:t>
            </a:r>
            <a:endParaRPr lang="en-US" sz="1000" dirty="0"/>
          </a:p>
        </p:txBody>
      </p:sp>
      <p:sp>
        <p:nvSpPr>
          <p:cNvPr id="54" name="Shape 31">
            <a:extLst>
              <a:ext uri="{FF2B5EF4-FFF2-40B4-BE49-F238E27FC236}">
                <a16:creationId xmlns:a16="http://schemas.microsoft.com/office/drawing/2014/main" id="{BA28878F-173A-FE03-AB31-0AB1A9676566}"/>
              </a:ext>
            </a:extLst>
          </p:cNvPr>
          <p:cNvSpPr/>
          <p:nvPr/>
        </p:nvSpPr>
        <p:spPr>
          <a:xfrm>
            <a:off x="6365590" y="3775356"/>
            <a:ext cx="1498249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55" name="Shape 32">
            <a:extLst>
              <a:ext uri="{FF2B5EF4-FFF2-40B4-BE49-F238E27FC236}">
                <a16:creationId xmlns:a16="http://schemas.microsoft.com/office/drawing/2014/main" id="{654DB09C-844B-D86D-66D8-A3EC369D5CA1}"/>
              </a:ext>
            </a:extLst>
          </p:cNvPr>
          <p:cNvSpPr/>
          <p:nvPr/>
        </p:nvSpPr>
        <p:spPr>
          <a:xfrm>
            <a:off x="6365590" y="3775356"/>
            <a:ext cx="1498249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56" name="Text 33">
            <a:extLst>
              <a:ext uri="{FF2B5EF4-FFF2-40B4-BE49-F238E27FC236}">
                <a16:creationId xmlns:a16="http://schemas.microsoft.com/office/drawing/2014/main" id="{21F19F71-4C87-EADB-33BD-40E97670EFCE}"/>
              </a:ext>
            </a:extLst>
          </p:cNvPr>
          <p:cNvSpPr/>
          <p:nvPr/>
        </p:nvSpPr>
        <p:spPr>
          <a:xfrm>
            <a:off x="6365590" y="3866796"/>
            <a:ext cx="14982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6.528</a:t>
            </a:r>
            <a:endParaRPr lang="en-US" sz="2800" dirty="0"/>
          </a:p>
        </p:txBody>
      </p:sp>
      <p:sp>
        <p:nvSpPr>
          <p:cNvPr id="57" name="Text 34">
            <a:extLst>
              <a:ext uri="{FF2B5EF4-FFF2-40B4-BE49-F238E27FC236}">
                <a16:creationId xmlns:a16="http://schemas.microsoft.com/office/drawing/2014/main" id="{A70FD632-4CE6-CEA8-4BE0-7AEA5C740E52}"/>
              </a:ext>
            </a:extLst>
          </p:cNvPr>
          <p:cNvSpPr/>
          <p:nvPr/>
        </p:nvSpPr>
        <p:spPr>
          <a:xfrm>
            <a:off x="6365590" y="4397148"/>
            <a:ext cx="14982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paradas com ao menos 1 crime</a:t>
            </a:r>
            <a:endParaRPr lang="en-US" sz="1000" dirty="0"/>
          </a:p>
        </p:txBody>
      </p:sp>
      <p:sp>
        <p:nvSpPr>
          <p:cNvPr id="58" name="Text 3">
            <a:extLst>
              <a:ext uri="{FF2B5EF4-FFF2-40B4-BE49-F238E27FC236}">
                <a16:creationId xmlns:a16="http://schemas.microsoft.com/office/drawing/2014/main" id="{FE014C4F-1221-17A1-9D9D-8F752D809C26}"/>
              </a:ext>
            </a:extLst>
          </p:cNvPr>
          <p:cNvSpPr/>
          <p:nvPr/>
        </p:nvSpPr>
        <p:spPr>
          <a:xfrm>
            <a:off x="357954" y="48903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D649E0B-2BB2-3CE8-BD2E-A37B7FAD6D4C}"/>
              </a:ext>
            </a:extLst>
          </p:cNvPr>
          <p:cNvSpPr txBox="1"/>
          <p:nvPr/>
        </p:nvSpPr>
        <p:spPr>
          <a:xfrm>
            <a:off x="702424" y="4869682"/>
            <a:ext cx="37449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>
              <a:spcBef>
                <a:spcPts val="1200"/>
              </a:spcBef>
              <a:spcAft>
                <a:spcPts val="1200"/>
              </a:spcAft>
            </a:pPr>
            <a:r>
              <a:rPr lang="en-US" sz="800" i="1" dirty="0" err="1">
                <a:solidFill>
                  <a:srgbClr val="A9CCE3"/>
                </a:solidFill>
              </a:rPr>
              <a:t>C</a:t>
            </a:r>
            <a:r>
              <a:rPr lang="en-US" sz="800" b="0" i="1" u="none" strike="noStrike" dirty="0" err="1">
                <a:solidFill>
                  <a:srgbClr val="A9CCE3"/>
                </a:solidFill>
                <a:effectLst/>
              </a:rPr>
              <a:t>oncentração</a:t>
            </a:r>
            <a:r>
              <a:rPr lang="en-US" sz="800" b="0" i="1" u="none" strike="noStrike" dirty="0">
                <a:solidFill>
                  <a:srgbClr val="A9CCE3"/>
                </a:solidFill>
                <a:effectLst/>
              </a:rPr>
              <a:t> </a:t>
            </a:r>
            <a:r>
              <a:rPr lang="en-US" sz="800" b="0" i="1" u="none" strike="noStrike" dirty="0" err="1">
                <a:solidFill>
                  <a:srgbClr val="A9CCE3"/>
                </a:solidFill>
                <a:effectLst/>
              </a:rPr>
              <a:t>maior</a:t>
            </a:r>
            <a:r>
              <a:rPr lang="en-US" sz="800" b="0" i="1" u="none" strike="noStrike" dirty="0">
                <a:solidFill>
                  <a:srgbClr val="A9CCE3"/>
                </a:solidFill>
                <a:effectLst/>
              </a:rPr>
              <a:t> entre as (longitude, latitude) de (-43.4, -22.98) </a:t>
            </a:r>
            <a:r>
              <a:rPr lang="en-US" sz="800" b="0" i="1" u="none" strike="noStrike" dirty="0" err="1">
                <a:solidFill>
                  <a:srgbClr val="A9CCE3"/>
                </a:solidFill>
                <a:effectLst/>
              </a:rPr>
              <a:t>até</a:t>
            </a:r>
            <a:r>
              <a:rPr lang="en-US" sz="800" b="0" i="1" u="none" strike="noStrike" dirty="0">
                <a:solidFill>
                  <a:srgbClr val="A9CCE3"/>
                </a:solidFill>
                <a:effectLst/>
              </a:rPr>
              <a:t> (-43.2, -22.80)</a:t>
            </a:r>
          </a:p>
          <a:p>
            <a:r>
              <a:rPr lang="en-US" sz="1400" i="1" dirty="0"/>
              <a:t/>
            </a:r>
            <a:br>
              <a:rPr lang="en-US" sz="1400" i="1" dirty="0"/>
            </a:br>
            <a:r>
              <a:rPr lang="en-US" sz="1400" i="1" dirty="0"/>
              <a:t/>
            </a:r>
            <a:br>
              <a:rPr lang="en-US" sz="1400" i="1" dirty="0"/>
            </a:br>
            <a:endParaRPr lang="x-none" sz="1400" i="1" dirty="0"/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402BE169-90F0-653B-839B-F0F7E33555D5}"/>
              </a:ext>
            </a:extLst>
          </p:cNvPr>
          <p:cNvSpPr/>
          <p:nvPr/>
        </p:nvSpPr>
        <p:spPr>
          <a:xfrm>
            <a:off x="297181" y="219695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1100" i="1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>
              <a:solidFill>
                <a:srgbClr val="0C1B2A"/>
              </a:solidFill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644E5BC-2AEC-FDC9-88FA-F0940BB16808}"/>
              </a:ext>
            </a:extLst>
          </p:cNvPr>
          <p:cNvGrpSpPr/>
          <p:nvPr/>
        </p:nvGrpSpPr>
        <p:grpSpPr>
          <a:xfrm>
            <a:off x="8453789" y="92226"/>
            <a:ext cx="542891" cy="527714"/>
            <a:chOff x="517242" y="3883937"/>
            <a:chExt cx="2422127" cy="2295270"/>
          </a:xfrm>
        </p:grpSpPr>
        <p:sp>
          <p:nvSpPr>
            <p:cNvPr id="67" name="Rectangle 15">
              <a:extLst>
                <a:ext uri="{FF2B5EF4-FFF2-40B4-BE49-F238E27FC236}">
                  <a16:creationId xmlns:a16="http://schemas.microsoft.com/office/drawing/2014/main" id="{EEA52E7C-9CFB-D74E-E84B-5811B9D4A15A}"/>
                </a:ext>
              </a:extLst>
            </p:cNvPr>
            <p:cNvSpPr/>
            <p:nvPr/>
          </p:nvSpPr>
          <p:spPr>
            <a:xfrm>
              <a:off x="517242" y="3883937"/>
              <a:ext cx="2422127" cy="2295270"/>
            </a:xfrm>
            <a:prstGeom prst="ellipse">
              <a:avLst/>
            </a:prstGeom>
            <a:solidFill>
              <a:srgbClr val="F9F9F9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68" name="Picture 67" descr="A logo with a bus and pointers&#10;&#10;Description automatically generated">
              <a:extLst>
                <a:ext uri="{FF2B5EF4-FFF2-40B4-BE49-F238E27FC236}">
                  <a16:creationId xmlns:a16="http://schemas.microsoft.com/office/drawing/2014/main" id="{D12E67D0-EF86-BEA6-4DD6-C61029300D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7430" t="9574" r="27408" b="28348"/>
            <a:stretch/>
          </p:blipFill>
          <p:spPr>
            <a:xfrm>
              <a:off x="535348" y="4081828"/>
              <a:ext cx="2404021" cy="1802393"/>
            </a:xfrm>
            <a:prstGeom prst="ellipse">
              <a:avLst/>
            </a:prstGeom>
          </p:spPr>
        </p:pic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23F449B4-D71F-67C0-5ECC-8C5BD439FF60}"/>
              </a:ext>
            </a:extLst>
          </p:cNvPr>
          <p:cNvSpPr/>
          <p:nvPr/>
        </p:nvSpPr>
        <p:spPr>
          <a:xfrm>
            <a:off x="8419500" y="59361"/>
            <a:ext cx="608535" cy="596520"/>
          </a:xfrm>
          <a:prstGeom prst="ellipse">
            <a:avLst/>
          </a:prstGeom>
          <a:noFill/>
          <a:ln w="19050">
            <a:solidFill>
              <a:srgbClr val="138F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5">
            <a:extLst>
              <a:ext uri="{FF2B5EF4-FFF2-40B4-BE49-F238E27FC236}">
                <a16:creationId xmlns:a16="http://schemas.microsoft.com/office/drawing/2014/main" id="{9E5EBEC5-DC5C-66BB-410C-158DD430BE39}"/>
              </a:ext>
            </a:extLst>
          </p:cNvPr>
          <p:cNvSpPr/>
          <p:nvPr/>
        </p:nvSpPr>
        <p:spPr>
          <a:xfrm>
            <a:off x="4662666" y="962053"/>
            <a:ext cx="4114734" cy="401924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Machine Learning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D7E"/>
                </a:solidFill>
              </a:rPr>
              <a:t>4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144247" cy="4021179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4144247" cy="7197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9" name="Text 7"/>
          <p:cNvSpPr/>
          <p:nvPr/>
        </p:nvSpPr>
        <p:spPr>
          <a:xfrm>
            <a:off x="502920" y="10698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K-Means (Clusterização)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5627" y="1342931"/>
            <a:ext cx="405506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linhas em perfis de risco sem rótulos pré-definidos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escolhido: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(Silhouette Score = 0.37)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crimes_medio, crimes_max, crimes_total, pct_sem_crime, price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8418" y="2347684"/>
            <a:ext cx="137160" cy="1188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2" name="Text 10"/>
          <p:cNvSpPr/>
          <p:nvPr/>
        </p:nvSpPr>
        <p:spPr>
          <a:xfrm>
            <a:off x="792738" y="226879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Risco: 173 linhas · crimes_medio: 1.78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8418" y="2599434"/>
            <a:ext cx="137160" cy="1188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4" name="Text 12"/>
          <p:cNvSpPr/>
          <p:nvPr/>
        </p:nvSpPr>
        <p:spPr>
          <a:xfrm>
            <a:off x="792738" y="253503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Risco: 271 linhas · crimes_medio: 5.97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8418" y="2861304"/>
            <a:ext cx="137160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6" name="Text 14"/>
          <p:cNvSpPr/>
          <p:nvPr/>
        </p:nvSpPr>
        <p:spPr>
          <a:xfrm>
            <a:off x="792738" y="2799729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Risco: 158 linhas · crimes_medio: 9.13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78164" y="963570"/>
            <a:ext cx="4090003" cy="685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9" name="Text 17"/>
          <p:cNvSpPr/>
          <p:nvPr/>
        </p:nvSpPr>
        <p:spPr>
          <a:xfrm>
            <a:off x="4774427" y="1086785"/>
            <a:ext cx="4224528" cy="420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Random Forest (Score 0–100)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12434" y="1388839"/>
            <a:ext cx="4224528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contínuo de perigo por linha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· KFold = 5 · R²: 0.65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resistente a outliers, captura relações não-lineares</a:t>
            </a:r>
            <a:endParaRPr lang="en-US" sz="11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AC3E02C-E561-E15F-D621-CD0F8881FE7A}"/>
              </a:ext>
            </a:extLst>
          </p:cNvPr>
          <p:cNvGrpSpPr/>
          <p:nvPr/>
        </p:nvGrpSpPr>
        <p:grpSpPr>
          <a:xfrm>
            <a:off x="8453789" y="92226"/>
            <a:ext cx="542891" cy="527714"/>
            <a:chOff x="517242" y="3883937"/>
            <a:chExt cx="2422127" cy="2295270"/>
          </a:xfrm>
        </p:grpSpPr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82077000-33A7-D3BD-72C4-178175FD9E64}"/>
                </a:ext>
              </a:extLst>
            </p:cNvPr>
            <p:cNvSpPr/>
            <p:nvPr/>
          </p:nvSpPr>
          <p:spPr>
            <a:xfrm>
              <a:off x="517242" y="3883937"/>
              <a:ext cx="2422127" cy="2295270"/>
            </a:xfrm>
            <a:prstGeom prst="ellipse">
              <a:avLst/>
            </a:prstGeom>
            <a:solidFill>
              <a:srgbClr val="F9F9F9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40" name="Picture 39" descr="A logo with a bus and pointers&#10;&#10;Description automatically generated">
              <a:extLst>
                <a:ext uri="{FF2B5EF4-FFF2-40B4-BE49-F238E27FC236}">
                  <a16:creationId xmlns:a16="http://schemas.microsoft.com/office/drawing/2014/main" id="{74064BCF-7D70-126B-0195-33A304389F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7430" t="9574" r="27408" b="28348"/>
            <a:stretch/>
          </p:blipFill>
          <p:spPr>
            <a:xfrm>
              <a:off x="535348" y="4081828"/>
              <a:ext cx="2404021" cy="1802393"/>
            </a:xfrm>
            <a:prstGeom prst="ellipse">
              <a:avLst/>
            </a:prstGeom>
          </p:spPr>
        </p:pic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8C5E3B9B-3249-D14F-C964-2BD0F470870A}"/>
              </a:ext>
            </a:extLst>
          </p:cNvPr>
          <p:cNvSpPr/>
          <p:nvPr/>
        </p:nvSpPr>
        <p:spPr>
          <a:xfrm>
            <a:off x="8419500" y="59361"/>
            <a:ext cx="608535" cy="596520"/>
          </a:xfrm>
          <a:prstGeom prst="ellipse">
            <a:avLst/>
          </a:prstGeom>
          <a:noFill/>
          <a:ln w="19050">
            <a:solidFill>
              <a:srgbClr val="138F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pic>
        <p:nvPicPr>
          <p:cNvPr id="47" name="Picture 46" descr="A diagram of a number of dots&#10;&#10;Description automatically generated">
            <a:extLst>
              <a:ext uri="{FF2B5EF4-FFF2-40B4-BE49-F238E27FC236}">
                <a16:creationId xmlns:a16="http://schemas.microsoft.com/office/drawing/2014/main" id="{34A7DF81-BD83-7285-ED6B-F0728B2CD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78" y="3170799"/>
            <a:ext cx="3566160" cy="1755025"/>
          </a:xfrm>
          <a:prstGeom prst="rect">
            <a:avLst/>
          </a:prstGeom>
        </p:spPr>
      </p:pic>
      <p:pic>
        <p:nvPicPr>
          <p:cNvPr id="49" name="Picture 48" descr="A chart with different colored squares&#10;&#10;Description automatically generated">
            <a:extLst>
              <a:ext uri="{FF2B5EF4-FFF2-40B4-BE49-F238E27FC236}">
                <a16:creationId xmlns:a16="http://schemas.microsoft.com/office/drawing/2014/main" id="{4E0151E3-40E1-3EA1-4F74-E7ED05FFE2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9901" y="2281152"/>
            <a:ext cx="3330586" cy="26063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Transformações em Funções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análises foram encapsuladas para a solução final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D7E"/>
                </a:solidFill>
              </a:rPr>
              <a:t>5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5740" y="1237925"/>
            <a:ext cx="1554480" cy="914401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8" name="Shape 6"/>
          <p:cNvSpPr/>
          <p:nvPr/>
        </p:nvSpPr>
        <p:spPr>
          <a:xfrm>
            <a:off x="205740" y="1237925"/>
            <a:ext cx="155448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9" name="Text 7"/>
          <p:cNvSpPr/>
          <p:nvPr/>
        </p:nvSpPr>
        <p:spPr>
          <a:xfrm>
            <a:off x="386812" y="1256773"/>
            <a:ext cx="11456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0D1B2A"/>
                </a:solidFill>
                <a:latin typeface="Consolas" pitchFamily="34" charset="0"/>
              </a:rPr>
              <a:t>MAPEAMENTO ROTAS PARA AS PARADAS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4572" y="1697214"/>
            <a:ext cx="1408176" cy="45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 err="1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preparar_mapeamento_rotas</a:t>
            </a:r>
            <a:r>
              <a:rPr lang="en-US" sz="1000" dirty="0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( )</a:t>
            </a:r>
          </a:p>
        </p:txBody>
      </p:sp>
      <p:sp>
        <p:nvSpPr>
          <p:cNvPr id="11" name="Shape 9"/>
          <p:cNvSpPr/>
          <p:nvPr/>
        </p:nvSpPr>
        <p:spPr>
          <a:xfrm>
            <a:off x="1737360" y="2243765"/>
            <a:ext cx="164592" cy="0"/>
          </a:xfrm>
          <a:prstGeom prst="line">
            <a:avLst/>
          </a:prstGeom>
          <a:noFill/>
          <a:ln w="19050">
            <a:solidFill>
              <a:srgbClr val="717D7E"/>
            </a:solidFill>
            <a:prstDash val="solid"/>
            <a:tailEnd type="arrow"/>
          </a:ln>
        </p:spPr>
        <p:txBody>
          <a:bodyPr/>
          <a:lstStyle/>
          <a:p>
            <a:endParaRPr lang="x-none"/>
          </a:p>
        </p:txBody>
      </p:sp>
      <p:sp>
        <p:nvSpPr>
          <p:cNvPr id="12" name="Shape 10"/>
          <p:cNvSpPr/>
          <p:nvPr/>
        </p:nvSpPr>
        <p:spPr>
          <a:xfrm>
            <a:off x="1909572" y="1256773"/>
            <a:ext cx="1554480" cy="895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13" name="Shape 11"/>
          <p:cNvSpPr/>
          <p:nvPr/>
        </p:nvSpPr>
        <p:spPr>
          <a:xfrm>
            <a:off x="1909572" y="1237925"/>
            <a:ext cx="155448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4" name="Text 12"/>
          <p:cNvSpPr/>
          <p:nvPr/>
        </p:nvSpPr>
        <p:spPr>
          <a:xfrm>
            <a:off x="2110740" y="1279073"/>
            <a:ext cx="1165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1B4F72"/>
                </a:solidFill>
                <a:latin typeface="Consolas" pitchFamily="34" charset="0"/>
              </a:rPr>
              <a:t>NORMALIZAÇÃO DE FEATURES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37004" y="1612829"/>
            <a:ext cx="1630680" cy="512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normalizar_features</a:t>
            </a:r>
            <a:r>
              <a:rPr lang="en-US" sz="1000" dirty="0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( )</a:t>
            </a:r>
            <a:endParaRPr lang="en-US" sz="1000" dirty="0">
              <a:latin typeface="Consolas" pitchFamily="49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36264" y="1222685"/>
            <a:ext cx="1554480" cy="990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18" name="Shape 16"/>
          <p:cNvSpPr/>
          <p:nvPr/>
        </p:nvSpPr>
        <p:spPr>
          <a:xfrm>
            <a:off x="3636264" y="1222685"/>
            <a:ext cx="1554480" cy="640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9" name="Text 17"/>
          <p:cNvSpPr/>
          <p:nvPr/>
        </p:nvSpPr>
        <p:spPr>
          <a:xfrm>
            <a:off x="3709416" y="1263833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148F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SIMILARIDADE ENTRE LINHAS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09416" y="1666169"/>
            <a:ext cx="140817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calcular_similaridade_paradas</a:t>
            </a:r>
            <a:r>
              <a:rPr lang="en-US" sz="1000" dirty="0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( )</a:t>
            </a:r>
            <a:endParaRPr lang="en-US" sz="1000" dirty="0">
              <a:latin typeface="Consolas" pitchFamily="49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347716" y="1215064"/>
            <a:ext cx="2016252" cy="2061535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23" name="Shape 21"/>
          <p:cNvSpPr/>
          <p:nvPr/>
        </p:nvSpPr>
        <p:spPr>
          <a:xfrm>
            <a:off x="5347716" y="1215065"/>
            <a:ext cx="2016252" cy="487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24" name="Text 22"/>
          <p:cNvSpPr/>
          <p:nvPr/>
        </p:nvSpPr>
        <p:spPr>
          <a:xfrm>
            <a:off x="5420868" y="1240973"/>
            <a:ext cx="1840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 smtClean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MULTICRITÉRIO DAS LINHAS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08676" y="1742368"/>
            <a:ext cx="2016252" cy="141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calcular_score_seguranca</a:t>
            </a:r>
            <a:r>
              <a:rPr lang="en-US" sz="1000" dirty="0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( )</a:t>
            </a:r>
          </a:p>
          <a:p>
            <a:pPr marL="0" indent="0">
              <a:buNone/>
            </a:pPr>
            <a:endParaRPr lang="en-US" sz="1000" dirty="0" smtClean="0">
              <a:solidFill>
                <a:srgbClr val="444444"/>
              </a:solidFill>
              <a:latin typeface="Consolas" pitchFamily="49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 err="1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calcular_score_conforto</a:t>
            </a:r>
            <a:r>
              <a:rPr lang="en-US" sz="1000" dirty="0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( )</a:t>
            </a:r>
          </a:p>
          <a:p>
            <a:pPr marL="0" indent="0">
              <a:buNone/>
            </a:pPr>
            <a:endParaRPr lang="en-US" sz="1000" dirty="0" smtClean="0">
              <a:solidFill>
                <a:srgbClr val="444444"/>
              </a:solidFill>
              <a:latin typeface="Consolas" pitchFamily="49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 err="1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calcular_score_preco</a:t>
            </a:r>
            <a:r>
              <a:rPr lang="en-US" sz="1000" dirty="0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( )</a:t>
            </a:r>
          </a:p>
          <a:p>
            <a:pPr marL="0" indent="0">
              <a:buNone/>
            </a:pPr>
            <a:endParaRPr lang="en-US" sz="1000" dirty="0" smtClean="0">
              <a:solidFill>
                <a:srgbClr val="444444"/>
              </a:solidFill>
              <a:latin typeface="Consolas" pitchFamily="49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 err="1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calcular_score_eficiencia</a:t>
            </a:r>
            <a:r>
              <a:rPr lang="en-US" sz="1000" dirty="0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( )</a:t>
            </a:r>
          </a:p>
          <a:p>
            <a:pPr marL="0" indent="0">
              <a:buNone/>
            </a:pPr>
            <a:endParaRPr lang="en-US" sz="1000" dirty="0" smtClean="0">
              <a:solidFill>
                <a:srgbClr val="444444"/>
              </a:solidFill>
              <a:latin typeface="Consolas" pitchFamily="49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 err="1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calcular_score_final</a:t>
            </a:r>
            <a:r>
              <a:rPr lang="en-US" sz="1000" dirty="0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( )</a:t>
            </a:r>
          </a:p>
        </p:txBody>
      </p:sp>
      <p:sp>
        <p:nvSpPr>
          <p:cNvPr id="27" name="Shape 25"/>
          <p:cNvSpPr/>
          <p:nvPr/>
        </p:nvSpPr>
        <p:spPr>
          <a:xfrm>
            <a:off x="7516368" y="1237926"/>
            <a:ext cx="1481328" cy="944879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28" name="Shape 26"/>
          <p:cNvSpPr/>
          <p:nvPr/>
        </p:nvSpPr>
        <p:spPr>
          <a:xfrm>
            <a:off x="7516368" y="1237925"/>
            <a:ext cx="1473567" cy="45719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29" name="Text 27"/>
          <p:cNvSpPr/>
          <p:nvPr/>
        </p:nvSpPr>
        <p:spPr>
          <a:xfrm>
            <a:off x="7543800" y="1324793"/>
            <a:ext cx="1408176" cy="334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7030A0"/>
                </a:solidFill>
                <a:latin typeface="Consolas" pitchFamily="34" charset="0"/>
              </a:rPr>
              <a:t>RECOMENDAÇÃO FINAL</a:t>
            </a:r>
            <a:endParaRPr lang="en-US" sz="1000" dirty="0">
              <a:solidFill>
                <a:srgbClr val="7030A0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7635240" y="1529009"/>
            <a:ext cx="1257300" cy="717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recomendar_melhor_rota</a:t>
            </a:r>
            <a:r>
              <a:rPr lang="en-US" sz="1000" dirty="0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( )</a:t>
            </a:r>
            <a:endParaRPr lang="en-US" sz="1000" dirty="0">
              <a:latin typeface="Consolas" pitchFamily="49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A4D4E7F-2A0C-248F-BB87-A0AD9442C2C9}"/>
              </a:ext>
            </a:extLst>
          </p:cNvPr>
          <p:cNvGrpSpPr/>
          <p:nvPr/>
        </p:nvGrpSpPr>
        <p:grpSpPr>
          <a:xfrm>
            <a:off x="8453789" y="92226"/>
            <a:ext cx="542891" cy="527714"/>
            <a:chOff x="517242" y="3883937"/>
            <a:chExt cx="2422127" cy="2295270"/>
          </a:xfrm>
        </p:grpSpPr>
        <p:sp>
          <p:nvSpPr>
            <p:cNvPr id="53" name="Rectangle 15">
              <a:extLst>
                <a:ext uri="{FF2B5EF4-FFF2-40B4-BE49-F238E27FC236}">
                  <a16:creationId xmlns:a16="http://schemas.microsoft.com/office/drawing/2014/main" id="{0A8606A1-5667-3137-DFCD-D7DC14FCD344}"/>
                </a:ext>
              </a:extLst>
            </p:cNvPr>
            <p:cNvSpPr/>
            <p:nvPr/>
          </p:nvSpPr>
          <p:spPr>
            <a:xfrm>
              <a:off x="517242" y="3883937"/>
              <a:ext cx="2422127" cy="2295270"/>
            </a:xfrm>
            <a:prstGeom prst="ellipse">
              <a:avLst/>
            </a:prstGeom>
            <a:solidFill>
              <a:srgbClr val="F9F9F9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54" name="Picture 53" descr="A logo with a bus and pointers&#10;&#10;Description automatically generated">
              <a:extLst>
                <a:ext uri="{FF2B5EF4-FFF2-40B4-BE49-F238E27FC236}">
                  <a16:creationId xmlns:a16="http://schemas.microsoft.com/office/drawing/2014/main" id="{39FC5725-22DC-EBCF-A147-40185A17E3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7430" t="9574" r="27408" b="28348"/>
            <a:stretch/>
          </p:blipFill>
          <p:spPr>
            <a:xfrm>
              <a:off x="535348" y="4081828"/>
              <a:ext cx="2404021" cy="1802393"/>
            </a:xfrm>
            <a:prstGeom prst="ellipse">
              <a:avLst/>
            </a:prstGeom>
          </p:spPr>
        </p:pic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19BD8D7E-D287-7F2C-2929-2F5449427357}"/>
              </a:ext>
            </a:extLst>
          </p:cNvPr>
          <p:cNvSpPr/>
          <p:nvPr/>
        </p:nvSpPr>
        <p:spPr>
          <a:xfrm>
            <a:off x="8419500" y="59361"/>
            <a:ext cx="608535" cy="596520"/>
          </a:xfrm>
          <a:prstGeom prst="ellipse">
            <a:avLst/>
          </a:prstGeom>
          <a:noFill/>
          <a:ln w="19050">
            <a:solidFill>
              <a:srgbClr val="138F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8" name="Shape 5"/>
          <p:cNvSpPr/>
          <p:nvPr/>
        </p:nvSpPr>
        <p:spPr>
          <a:xfrm>
            <a:off x="191608" y="2319965"/>
            <a:ext cx="1554480" cy="910915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49" name="Shape 6"/>
          <p:cNvSpPr/>
          <p:nvPr/>
        </p:nvSpPr>
        <p:spPr>
          <a:xfrm>
            <a:off x="191608" y="2331193"/>
            <a:ext cx="1554480" cy="45719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51" name="Text 7"/>
          <p:cNvSpPr/>
          <p:nvPr/>
        </p:nvSpPr>
        <p:spPr>
          <a:xfrm>
            <a:off x="144780" y="2456161"/>
            <a:ext cx="1609760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0D1B2A"/>
                </a:solidFill>
                <a:latin typeface="Consolas" pitchFamily="34" charset="0"/>
              </a:rPr>
              <a:t>PREPARAÇÃO DAS GEOMETRIAS DAS ROTAS</a:t>
            </a:r>
            <a:endParaRPr lang="en-US" sz="1000" dirty="0"/>
          </a:p>
        </p:txBody>
      </p:sp>
      <p:sp>
        <p:nvSpPr>
          <p:cNvPr id="56" name="Text 8"/>
          <p:cNvSpPr/>
          <p:nvPr/>
        </p:nvSpPr>
        <p:spPr>
          <a:xfrm>
            <a:off x="269332" y="2693075"/>
            <a:ext cx="1392936" cy="566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 err="1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preparar_geometria_rotas</a:t>
            </a:r>
            <a:r>
              <a:rPr lang="en-US" sz="1000" dirty="0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( )</a:t>
            </a:r>
          </a:p>
        </p:txBody>
      </p:sp>
      <p:sp>
        <p:nvSpPr>
          <p:cNvPr id="57" name="Shape 10"/>
          <p:cNvSpPr/>
          <p:nvPr/>
        </p:nvSpPr>
        <p:spPr>
          <a:xfrm>
            <a:off x="1909572" y="2338813"/>
            <a:ext cx="1554480" cy="895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58" name="Shape 11"/>
          <p:cNvSpPr/>
          <p:nvPr/>
        </p:nvSpPr>
        <p:spPr>
          <a:xfrm>
            <a:off x="1909572" y="2319965"/>
            <a:ext cx="155448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59" name="Text 12"/>
          <p:cNvSpPr/>
          <p:nvPr/>
        </p:nvSpPr>
        <p:spPr>
          <a:xfrm>
            <a:off x="2103120" y="2338253"/>
            <a:ext cx="1165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1B4F72"/>
                </a:solidFill>
                <a:latin typeface="Consolas" pitchFamily="34" charset="0"/>
              </a:rPr>
              <a:t>ESTRUTURAÇÃO PARA BACKEND</a:t>
            </a:r>
            <a:endParaRPr lang="en-US" sz="1000" dirty="0"/>
          </a:p>
        </p:txBody>
      </p:sp>
      <p:sp>
        <p:nvSpPr>
          <p:cNvPr id="60" name="Text 13"/>
          <p:cNvSpPr/>
          <p:nvPr/>
        </p:nvSpPr>
        <p:spPr>
          <a:xfrm>
            <a:off x="1975104" y="2725349"/>
            <a:ext cx="1408176" cy="512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preparar_dados_backend</a:t>
            </a:r>
            <a:r>
              <a:rPr lang="en-US" sz="1000" dirty="0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( )</a:t>
            </a:r>
            <a:endParaRPr lang="en-US" sz="1000" dirty="0">
              <a:latin typeface="Consolas" pitchFamily="49" charset="0"/>
            </a:endParaRPr>
          </a:p>
        </p:txBody>
      </p:sp>
      <p:sp>
        <p:nvSpPr>
          <p:cNvPr id="61" name="Shape 15"/>
          <p:cNvSpPr/>
          <p:nvPr/>
        </p:nvSpPr>
        <p:spPr>
          <a:xfrm>
            <a:off x="3643884" y="2319965"/>
            <a:ext cx="1554480" cy="9408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62" name="Shape 16"/>
          <p:cNvSpPr/>
          <p:nvPr/>
        </p:nvSpPr>
        <p:spPr>
          <a:xfrm>
            <a:off x="3643884" y="2319965"/>
            <a:ext cx="1554480" cy="640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63" name="Text 17"/>
          <p:cNvSpPr/>
          <p:nvPr/>
        </p:nvSpPr>
        <p:spPr>
          <a:xfrm>
            <a:off x="3709416" y="2338253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148F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SUGESTÃO DE LINHAS ALTERNATIVAS</a:t>
            </a:r>
            <a:endParaRPr lang="en-US" sz="1000" dirty="0"/>
          </a:p>
        </p:txBody>
      </p:sp>
      <p:sp>
        <p:nvSpPr>
          <p:cNvPr id="64" name="Text 18"/>
          <p:cNvSpPr/>
          <p:nvPr/>
        </p:nvSpPr>
        <p:spPr>
          <a:xfrm>
            <a:off x="3701796" y="2740589"/>
            <a:ext cx="1408176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sugerir_linhas_alternativas</a:t>
            </a:r>
            <a:r>
              <a:rPr lang="en-US" sz="1000" dirty="0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( )</a:t>
            </a:r>
            <a:endParaRPr lang="en-US" sz="1000" dirty="0">
              <a:latin typeface="Consolas" pitchFamily="49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48728" y="2263140"/>
            <a:ext cx="164592" cy="0"/>
          </a:xfrm>
          <a:prstGeom prst="line">
            <a:avLst/>
          </a:prstGeom>
          <a:noFill/>
          <a:ln w="19050">
            <a:solidFill>
              <a:srgbClr val="717D7E"/>
            </a:solidFill>
            <a:prstDash val="solid"/>
            <a:tailEnd type="arrow"/>
          </a:ln>
        </p:spPr>
        <p:txBody>
          <a:bodyPr/>
          <a:lstStyle/>
          <a:p>
            <a:endParaRPr lang="x-none"/>
          </a:p>
        </p:txBody>
      </p:sp>
      <p:sp>
        <p:nvSpPr>
          <p:cNvPr id="65" name="Shape 25"/>
          <p:cNvSpPr/>
          <p:nvPr/>
        </p:nvSpPr>
        <p:spPr>
          <a:xfrm>
            <a:off x="7508748" y="2388546"/>
            <a:ext cx="1481328" cy="865193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66" name="Shape 26"/>
          <p:cNvSpPr/>
          <p:nvPr/>
        </p:nvSpPr>
        <p:spPr>
          <a:xfrm>
            <a:off x="7508748" y="2388545"/>
            <a:ext cx="1473567" cy="45719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67" name="Text 27"/>
          <p:cNvSpPr/>
          <p:nvPr/>
        </p:nvSpPr>
        <p:spPr>
          <a:xfrm>
            <a:off x="7536180" y="2460173"/>
            <a:ext cx="1408176" cy="334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7030A0"/>
                </a:solidFill>
                <a:latin typeface="Consolas" pitchFamily="34" charset="0"/>
              </a:rPr>
              <a:t>EXPLICABILIDADE</a:t>
            </a:r>
            <a:endParaRPr lang="en-US" sz="1000" dirty="0">
              <a:solidFill>
                <a:srgbClr val="7030A0"/>
              </a:solidFill>
            </a:endParaRPr>
          </a:p>
        </p:txBody>
      </p:sp>
      <p:sp>
        <p:nvSpPr>
          <p:cNvPr id="68" name="Text 28"/>
          <p:cNvSpPr/>
          <p:nvPr/>
        </p:nvSpPr>
        <p:spPr>
          <a:xfrm>
            <a:off x="7635240" y="2611049"/>
            <a:ext cx="1257300" cy="717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explicar_recomendacao</a:t>
            </a:r>
            <a:r>
              <a:rPr lang="en-US" sz="1000" dirty="0" smtClean="0">
                <a:solidFill>
                  <a:srgbClr val="444444"/>
                </a:solidFill>
                <a:latin typeface="Consolas" pitchFamily="49" charset="0"/>
                <a:ea typeface="Calibri" pitchFamily="34" charset="-122"/>
                <a:cs typeface="Calibri" pitchFamily="34" charset="-120"/>
              </a:rPr>
              <a:t>( )</a:t>
            </a:r>
            <a:endParaRPr lang="en-US" sz="1000" dirty="0">
              <a:latin typeface="Consolas" pitchFamily="49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64052" y="2251385"/>
            <a:ext cx="164592" cy="0"/>
          </a:xfrm>
          <a:prstGeom prst="line">
            <a:avLst/>
          </a:prstGeom>
          <a:noFill/>
          <a:ln w="19050">
            <a:solidFill>
              <a:srgbClr val="717D7E"/>
            </a:solidFill>
            <a:prstDash val="solid"/>
            <a:tailEnd type="arrow"/>
          </a:ln>
        </p:spPr>
        <p:txBody>
          <a:bodyPr/>
          <a:lstStyle/>
          <a:p>
            <a:endParaRPr lang="x-none"/>
          </a:p>
        </p:txBody>
      </p:sp>
      <p:sp>
        <p:nvSpPr>
          <p:cNvPr id="21" name="Shape 19"/>
          <p:cNvSpPr/>
          <p:nvPr/>
        </p:nvSpPr>
        <p:spPr>
          <a:xfrm>
            <a:off x="5190744" y="2274245"/>
            <a:ext cx="164592" cy="0"/>
          </a:xfrm>
          <a:prstGeom prst="line">
            <a:avLst/>
          </a:prstGeom>
          <a:noFill/>
          <a:ln w="19050">
            <a:solidFill>
              <a:srgbClr val="717D7E"/>
            </a:solidFill>
            <a:prstDash val="solid"/>
            <a:tailEnd type="arrow"/>
          </a:ln>
        </p:spPr>
        <p:txBody>
          <a:bodyPr/>
          <a:lstStyle/>
          <a:p>
            <a:endParaRPr lang="x-none"/>
          </a:p>
        </p:txBody>
      </p:sp>
      <p:sp>
        <p:nvSpPr>
          <p:cNvPr id="69" name="CaixaDeTexto 68"/>
          <p:cNvSpPr txBox="1"/>
          <p:nvPr/>
        </p:nvSpPr>
        <p:spPr>
          <a:xfrm>
            <a:off x="222920" y="3489680"/>
            <a:ext cx="1531620" cy="938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100" b="1" dirty="0" err="1" smtClean="0">
                <a:latin typeface="Consolas" pitchFamily="49" charset="0"/>
              </a:rPr>
              <a:t>route_short_name</a:t>
            </a:r>
            <a:endParaRPr lang="pt-BR" sz="1100" b="1" dirty="0" smtClean="0">
              <a:latin typeface="Consolas" pitchFamily="49" charset="0"/>
            </a:endParaRPr>
          </a:p>
          <a:p>
            <a:endParaRPr lang="pt-BR" sz="1100" b="1" dirty="0" smtClean="0">
              <a:latin typeface="Consolas" pitchFamily="49" charset="0"/>
            </a:endParaRPr>
          </a:p>
          <a:p>
            <a:r>
              <a:rPr lang="pt-BR" sz="1100" b="1" dirty="0" err="1" smtClean="0">
                <a:latin typeface="Consolas" pitchFamily="49" charset="0"/>
              </a:rPr>
              <a:t>stop_id</a:t>
            </a:r>
            <a:endParaRPr lang="pt-BR" sz="1100" b="1" dirty="0" smtClean="0">
              <a:latin typeface="Consolas" pitchFamily="49" charset="0"/>
            </a:endParaRPr>
          </a:p>
          <a:p>
            <a:endParaRPr lang="pt-BR" sz="1100" b="1" dirty="0" smtClean="0">
              <a:latin typeface="Consolas" pitchFamily="49" charset="0"/>
            </a:endParaRPr>
          </a:p>
          <a:p>
            <a:r>
              <a:rPr lang="pt-BR" sz="1100" b="1" dirty="0" err="1" smtClean="0">
                <a:latin typeface="Consolas" pitchFamily="49" charset="0"/>
              </a:rPr>
              <a:t>gdf_linhas</a:t>
            </a:r>
            <a:endParaRPr lang="pt-BR" sz="1100" b="1" dirty="0">
              <a:latin typeface="Consolas" pitchFamily="49" charset="0"/>
            </a:endParaRPr>
          </a:p>
        </p:txBody>
      </p:sp>
      <p:sp>
        <p:nvSpPr>
          <p:cNvPr id="70" name="CaixaDeTexto 69"/>
          <p:cNvSpPr txBox="1"/>
          <p:nvPr/>
        </p:nvSpPr>
        <p:spPr>
          <a:xfrm>
            <a:off x="1840992" y="3396901"/>
            <a:ext cx="1860804" cy="16312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000" b="1" dirty="0" err="1" smtClean="0">
                <a:solidFill>
                  <a:srgbClr val="1B4F72"/>
                </a:solidFill>
                <a:latin typeface="Consolas" pitchFamily="34" charset="0"/>
              </a:rPr>
              <a:t>MinMaxScaler</a:t>
            </a:r>
            <a:r>
              <a:rPr lang="pt-BR" sz="1000" b="1" dirty="0" smtClean="0">
                <a:solidFill>
                  <a:srgbClr val="1B4F72"/>
                </a:solidFill>
                <a:latin typeface="Consolas" pitchFamily="34" charset="0"/>
              </a:rPr>
              <a:t> (método)</a:t>
            </a:r>
            <a:endParaRPr lang="pt-BR" sz="1000" dirty="0" smtClean="0">
              <a:latin typeface="Consolas" pitchFamily="49" charset="0"/>
            </a:endParaRPr>
          </a:p>
          <a:p>
            <a:endParaRPr lang="pt-BR" sz="1000" dirty="0" smtClean="0">
              <a:latin typeface="Consolas" pitchFamily="49" charset="0"/>
            </a:endParaRPr>
          </a:p>
          <a:p>
            <a:r>
              <a:rPr lang="pt-BR" sz="1000" b="1" dirty="0" err="1" smtClean="0">
                <a:solidFill>
                  <a:srgbClr val="1B4F72"/>
                </a:solidFill>
                <a:latin typeface="Consolas" pitchFamily="34" charset="0"/>
              </a:rPr>
              <a:t>dataset_agregado</a:t>
            </a:r>
            <a:endParaRPr lang="pt-BR" sz="1000" b="1" dirty="0" smtClean="0">
              <a:solidFill>
                <a:srgbClr val="1B4F72"/>
              </a:solidFill>
              <a:latin typeface="Consolas" pitchFamily="34" charset="0"/>
            </a:endParaRPr>
          </a:p>
          <a:p>
            <a:endParaRPr lang="pt-BR" sz="1000" b="1" dirty="0" smtClean="0">
              <a:solidFill>
                <a:srgbClr val="1B4F72"/>
              </a:solidFill>
              <a:latin typeface="Consolas" pitchFamily="34" charset="0"/>
            </a:endParaRPr>
          </a:p>
          <a:p>
            <a:r>
              <a:rPr lang="pt-BR" sz="1000" b="1" dirty="0" err="1" smtClean="0">
                <a:solidFill>
                  <a:srgbClr val="1B4F72"/>
                </a:solidFill>
                <a:latin typeface="Consolas" pitchFamily="34" charset="0"/>
              </a:rPr>
              <a:t>route_to_stop_map</a:t>
            </a:r>
            <a:endParaRPr lang="pt-BR" sz="1000" b="1" dirty="0" smtClean="0">
              <a:solidFill>
                <a:srgbClr val="1B4F72"/>
              </a:solidFill>
              <a:latin typeface="Consolas" pitchFamily="34" charset="0"/>
            </a:endParaRPr>
          </a:p>
          <a:p>
            <a:endParaRPr lang="pt-BR" sz="1000" b="1" dirty="0" smtClean="0">
              <a:solidFill>
                <a:srgbClr val="1B4F72"/>
              </a:solidFill>
              <a:latin typeface="Consolas" pitchFamily="34" charset="0"/>
            </a:endParaRPr>
          </a:p>
          <a:p>
            <a:r>
              <a:rPr lang="pt-BR" sz="1000" b="1" dirty="0" err="1" smtClean="0">
                <a:solidFill>
                  <a:srgbClr val="1B4F72"/>
                </a:solidFill>
                <a:latin typeface="Consolas" pitchFamily="34" charset="0"/>
              </a:rPr>
              <a:t>rotas_geometrias_map</a:t>
            </a:r>
            <a:endParaRPr lang="pt-BR" sz="1000" b="1" dirty="0" smtClean="0">
              <a:solidFill>
                <a:srgbClr val="1B4F72"/>
              </a:solidFill>
              <a:latin typeface="Consolas" pitchFamily="34" charset="0"/>
            </a:endParaRPr>
          </a:p>
          <a:p>
            <a:endParaRPr lang="pt-BR" sz="1000" b="1" dirty="0" smtClean="0">
              <a:solidFill>
                <a:srgbClr val="1B4F72"/>
              </a:solidFill>
              <a:latin typeface="Consolas" pitchFamily="34" charset="0"/>
            </a:endParaRPr>
          </a:p>
          <a:p>
            <a:r>
              <a:rPr lang="pt-BR" sz="1000" b="1" dirty="0" err="1" smtClean="0">
                <a:solidFill>
                  <a:srgbClr val="1B4F72"/>
                </a:solidFill>
                <a:latin typeface="Consolas" pitchFamily="34" charset="0"/>
              </a:rPr>
              <a:t>dataset_agregado_normalizado</a:t>
            </a:r>
            <a:endParaRPr lang="pt-BR" sz="1000" b="1" dirty="0" smtClean="0">
              <a:solidFill>
                <a:srgbClr val="1B4F72"/>
              </a:solidFill>
              <a:latin typeface="Consolas" pitchFamily="34" charset="0"/>
            </a:endParaRPr>
          </a:p>
        </p:txBody>
      </p:sp>
      <p:sp>
        <p:nvSpPr>
          <p:cNvPr id="71" name="CaixaDeTexto 70"/>
          <p:cNvSpPr txBox="1"/>
          <p:nvPr/>
        </p:nvSpPr>
        <p:spPr>
          <a:xfrm>
            <a:off x="3567684" y="3396794"/>
            <a:ext cx="1837944" cy="11387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000" b="1" dirty="0" err="1" smtClean="0">
                <a:solidFill>
                  <a:srgbClr val="148F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Stops_id</a:t>
            </a:r>
            <a:r>
              <a:rPr lang="pt-BR" sz="900" dirty="0" smtClean="0"/>
              <a:t> </a:t>
            </a:r>
          </a:p>
          <a:p>
            <a:endParaRPr lang="pt-BR" sz="900" dirty="0" smtClean="0"/>
          </a:p>
          <a:p>
            <a:r>
              <a:rPr lang="pt-BR" sz="1000" b="1" dirty="0" err="1" smtClean="0">
                <a:solidFill>
                  <a:srgbClr val="148F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Stops_a</a:t>
            </a:r>
            <a:r>
              <a:rPr lang="pt-BR" sz="900" dirty="0" smtClean="0"/>
              <a:t>	</a:t>
            </a:r>
            <a:r>
              <a:rPr lang="pt-BR" sz="1000" b="1" dirty="0" err="1" smtClean="0">
                <a:solidFill>
                  <a:srgbClr val="148F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Stops_b</a:t>
            </a:r>
            <a:endParaRPr lang="pt-BR" sz="1000" b="1" dirty="0" smtClean="0">
              <a:solidFill>
                <a:srgbClr val="148F77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endParaRPr lang="pt-BR" sz="900" dirty="0" smtClean="0"/>
          </a:p>
          <a:p>
            <a:r>
              <a:rPr lang="pt-BR" sz="1000" b="1" dirty="0" err="1" smtClean="0">
                <a:solidFill>
                  <a:srgbClr val="148F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Linha_alvo</a:t>
            </a:r>
            <a:r>
              <a:rPr lang="pt-BR" sz="900" b="1" dirty="0" smtClean="0">
                <a:solidFill>
                  <a:srgbClr val="148F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(nome da rota)</a:t>
            </a:r>
            <a:endParaRPr lang="pt-BR" sz="900" dirty="0" smtClean="0"/>
          </a:p>
          <a:p>
            <a:endParaRPr lang="pt-BR" sz="1000" b="1" dirty="0" smtClean="0">
              <a:solidFill>
                <a:srgbClr val="148F77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pt-BR" sz="1000" b="1" dirty="0" err="1" smtClean="0">
                <a:solidFill>
                  <a:srgbClr val="148F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Route_to_stops</a:t>
            </a:r>
            <a:endParaRPr lang="pt-BR" sz="1000" b="1" dirty="0" smtClean="0">
              <a:solidFill>
                <a:srgbClr val="148F77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72" name="CaixaDeTexto 71"/>
          <p:cNvSpPr txBox="1"/>
          <p:nvPr/>
        </p:nvSpPr>
        <p:spPr>
          <a:xfrm>
            <a:off x="5355336" y="3419761"/>
            <a:ext cx="2008632" cy="8463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000" b="1" dirty="0" err="1" smtClean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Linha_info</a:t>
            </a:r>
            <a:endParaRPr lang="pt-BR" sz="1000" b="1" dirty="0" smtClean="0">
              <a:solidFill>
                <a:srgbClr val="E67E2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pt-BR" sz="900" b="1" dirty="0" smtClean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pt-BR" sz="1000" b="1" dirty="0" err="1" smtClean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dataset_agregado_normalizado</a:t>
            </a:r>
            <a:r>
              <a:rPr lang="pt-BR" sz="900" b="1" dirty="0" smtClean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pt-BR" sz="900" dirty="0" smtClean="0"/>
          </a:p>
          <a:p>
            <a:endParaRPr lang="pt-BR" sz="900" dirty="0" smtClean="0"/>
          </a:p>
          <a:p>
            <a:r>
              <a:rPr lang="pt-BR" sz="1000" b="1" dirty="0" smtClean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pesos</a:t>
            </a:r>
          </a:p>
        </p:txBody>
      </p:sp>
      <p:sp>
        <p:nvSpPr>
          <p:cNvPr id="73" name="CaixaDeTexto 72"/>
          <p:cNvSpPr txBox="1"/>
          <p:nvPr/>
        </p:nvSpPr>
        <p:spPr>
          <a:xfrm>
            <a:off x="7496415" y="3389281"/>
            <a:ext cx="1531620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000" b="1" dirty="0" err="1" smtClean="0">
                <a:solidFill>
                  <a:srgbClr val="7030A0"/>
                </a:solidFill>
                <a:latin typeface="Consolas" pitchFamily="34" charset="0"/>
              </a:rPr>
              <a:t>Linha_alvo</a:t>
            </a:r>
            <a:endParaRPr lang="pt-BR" sz="1000" b="1" dirty="0" smtClean="0">
              <a:solidFill>
                <a:srgbClr val="7030A0"/>
              </a:solidFill>
              <a:latin typeface="Consolas" pitchFamily="34" charset="0"/>
            </a:endParaRPr>
          </a:p>
          <a:p>
            <a:endParaRPr lang="pt-BR" sz="900" dirty="0" smtClean="0"/>
          </a:p>
          <a:p>
            <a:r>
              <a:rPr lang="pt-BR" sz="1000" b="1" dirty="0" err="1" smtClean="0">
                <a:solidFill>
                  <a:srgbClr val="7030A0"/>
                </a:solidFill>
                <a:latin typeface="Consolas" pitchFamily="34" charset="0"/>
              </a:rPr>
              <a:t>Dataset_agregado_normalizado</a:t>
            </a:r>
            <a:endParaRPr lang="pt-BR" sz="1000" b="1" dirty="0" smtClean="0">
              <a:solidFill>
                <a:srgbClr val="7030A0"/>
              </a:solidFill>
              <a:latin typeface="Consolas" pitchFamily="34" charset="0"/>
            </a:endParaRPr>
          </a:p>
          <a:p>
            <a:endParaRPr lang="pt-BR" sz="900" dirty="0" smtClean="0"/>
          </a:p>
          <a:p>
            <a:r>
              <a:rPr lang="pt-BR" sz="1000" b="1" dirty="0" err="1" smtClean="0">
                <a:solidFill>
                  <a:srgbClr val="7030A0"/>
                </a:solidFill>
                <a:latin typeface="Consolas" pitchFamily="34" charset="0"/>
              </a:rPr>
              <a:t>Route_to_stops</a:t>
            </a:r>
          </a:p>
          <a:p>
            <a:endParaRPr lang="pt-BR" sz="900" dirty="0" smtClean="0"/>
          </a:p>
          <a:p>
            <a:r>
              <a:rPr lang="pt-BR" sz="1000" b="1" dirty="0" err="1" smtClean="0">
                <a:solidFill>
                  <a:srgbClr val="7030A0"/>
                </a:solidFill>
                <a:latin typeface="Consolas" pitchFamily="34" charset="0"/>
              </a:rPr>
              <a:t>Pesos_usuario</a:t>
            </a:r>
            <a:endParaRPr lang="pt-BR" sz="1000" b="1" dirty="0" smtClean="0">
              <a:solidFill>
                <a:srgbClr val="7030A0"/>
              </a:solidFill>
              <a:latin typeface="Consolas" pitchFamily="34" charset="0"/>
            </a:endParaRPr>
          </a:p>
          <a:p>
            <a:endParaRPr lang="pt-BR" sz="900" dirty="0" smtClean="0"/>
          </a:p>
          <a:p>
            <a:r>
              <a:rPr lang="pt-BR" sz="1000" b="1" dirty="0" err="1" smtClean="0">
                <a:solidFill>
                  <a:srgbClr val="7030A0"/>
                </a:solidFill>
                <a:latin typeface="Consolas" pitchFamily="34" charset="0"/>
              </a:rPr>
              <a:t>Info_linha</a:t>
            </a:r>
            <a:endParaRPr lang="pt-BR" sz="1000" b="1" dirty="0" smtClean="0">
              <a:solidFill>
                <a:srgbClr val="7030A0"/>
              </a:solidFill>
              <a:latin typeface="Consolas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Solução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29768" y="7863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recomendação multicritério — NossaRota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D7E"/>
                </a:solidFill>
              </a:rPr>
              <a:t>6 /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usuário: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1965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19659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0" name="Text 8"/>
          <p:cNvSpPr/>
          <p:nvPr/>
        </p:nvSpPr>
        <p:spPr>
          <a:xfrm>
            <a:off x="457200" y="14813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05259"/>
            <a:ext cx="1783080" cy="104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perigo</a:t>
            </a:r>
            <a:endParaRPr lang="en-US" sz="11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1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0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'S'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0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0.6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0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'C'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0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0.2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0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'E'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0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0.1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0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'P'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0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0.1</a:t>
            </a:r>
            <a:endParaRPr lang="en-US" sz="10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514600" y="1371600"/>
            <a:ext cx="1965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13" name="Shape 11"/>
          <p:cNvSpPr/>
          <p:nvPr/>
        </p:nvSpPr>
        <p:spPr>
          <a:xfrm>
            <a:off x="2514600" y="1371600"/>
            <a:ext cx="1965960" cy="640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4" name="Text 12"/>
          <p:cNvSpPr/>
          <p:nvPr/>
        </p:nvSpPr>
        <p:spPr>
          <a:xfrm>
            <a:off x="2606040" y="14813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1865376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AC e</a:t>
            </a:r>
            <a:r>
              <a:rPr lang="en-US" sz="1100" dirty="0"/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100" dirty="0"/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</a:t>
            </a:r>
            <a:endParaRPr lang="en-US" sz="11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100" dirty="0">
              <a:solidFill>
                <a:srgbClr val="444444"/>
              </a:solidFill>
              <a:latin typeface="Calibri" pitchFamily="34" charset="0"/>
              <a:cs typeface="Calibri" pitchFamily="34" charset="-120"/>
            </a:endParaRPr>
          </a:p>
          <a:p>
            <a:pPr algn="ctr"/>
            <a:r>
              <a:rPr lang="en-US" sz="11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'S'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1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0.1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'C'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1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0.6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'E'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1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0.2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'P'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1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0.1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1965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1965960" cy="640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8" name="Text 16"/>
          <p:cNvSpPr/>
          <p:nvPr/>
        </p:nvSpPr>
        <p:spPr>
          <a:xfrm>
            <a:off x="4754880" y="14813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865376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r>
              <a:rPr lang="en-US" sz="1100" dirty="0"/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r>
              <a:rPr lang="en-US" sz="1100" dirty="0"/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</a:t>
            </a:r>
            <a:endParaRPr lang="en-US" sz="11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100" dirty="0">
              <a:solidFill>
                <a:srgbClr val="444444"/>
              </a:solidFill>
              <a:latin typeface="Calibri" pitchFamily="34" charset="0"/>
              <a:cs typeface="Calibri" pitchFamily="34" charset="-120"/>
            </a:endParaRPr>
          </a:p>
          <a:p>
            <a:pPr algn="ctr"/>
            <a:r>
              <a:rPr lang="en-US" sz="11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'S'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1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0.1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'C'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1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0.1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'E'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1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0.3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'P'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1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0.5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1371600"/>
            <a:ext cx="1965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21" name="Shape 19"/>
          <p:cNvSpPr/>
          <p:nvPr/>
        </p:nvSpPr>
        <p:spPr>
          <a:xfrm>
            <a:off x="6812280" y="1371600"/>
            <a:ext cx="196596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22" name="Text 20"/>
          <p:cNvSpPr/>
          <p:nvPr/>
        </p:nvSpPr>
        <p:spPr>
          <a:xfrm>
            <a:off x="6903720" y="14813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1865376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iguais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r>
              <a:rPr lang="en-US" sz="1100" dirty="0"/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endParaRPr lang="en-US" sz="11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1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'S'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1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0.25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'C'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1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0.25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'E'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1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0.25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1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'P'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1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0.25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8412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25" name="Shape 23"/>
          <p:cNvSpPr/>
          <p:nvPr/>
        </p:nvSpPr>
        <p:spPr>
          <a:xfrm>
            <a:off x="365760" y="3063240"/>
            <a:ext cx="64008" cy="9144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26" name="Text 24"/>
          <p:cNvSpPr/>
          <p:nvPr/>
        </p:nvSpPr>
        <p:spPr>
          <a:xfrm>
            <a:off x="566928" y="3127248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3438144"/>
            <a:ext cx="8092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informa sua linha atual → sistema calcula o score multicritério → encontra linhas similares via similaridade de Jaccard (sobreposição de paradas) → filtra por limiares de qualidade →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parametros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infromada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 </a:t>
            </a:r>
            <a:r>
              <a:rPr lang="en-US" sz="11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</a:t>
            </a: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alternativa com justificativa textual automática.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841248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29" name="Text 27"/>
          <p:cNvSpPr/>
          <p:nvPr/>
        </p:nvSpPr>
        <p:spPr>
          <a:xfrm>
            <a:off x="548640" y="4169664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232 · Alto Risco · Score 78 → Recomendada: SN232 · Médio Risco · Score 41 · Similaridade Jaccard: 1.0 · 12% mais barata</a:t>
            </a:r>
            <a:endParaRPr lang="en-US" sz="120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A18637FE-0923-9E04-DC06-6C35BC4A0C33}"/>
              </a:ext>
            </a:extLst>
          </p:cNvPr>
          <p:cNvSpPr/>
          <p:nvPr/>
        </p:nvSpPr>
        <p:spPr>
          <a:xfrm>
            <a:off x="365760" y="11338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 err="1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900" i="1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r>
              <a:rPr lang="en-US" sz="900" i="1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</a:t>
            </a:r>
            <a:r>
              <a:rPr lang="en-US" sz="900" i="1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900" i="1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nota </a:t>
            </a:r>
            <a:r>
              <a:rPr lang="en-US" sz="900" i="1" dirty="0" err="1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</a:t>
            </a:r>
            <a:r>
              <a:rPr lang="en-US" sz="900" i="1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as </a:t>
            </a:r>
            <a:r>
              <a:rPr lang="en-US" sz="900" i="1" dirty="0" err="1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</a:t>
            </a:r>
            <a:r>
              <a:rPr lang="en-US" sz="900" i="1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dependendo</a:t>
            </a:r>
            <a:r>
              <a:rPr lang="en-US" sz="900" i="1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</a:t>
            </a:r>
            <a:r>
              <a:rPr lang="en-US" sz="900" i="1" dirty="0" err="1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preferencias</a:t>
            </a:r>
            <a:r>
              <a:rPr lang="en-US" sz="900" i="1" dirty="0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</a:t>
            </a:r>
            <a:r>
              <a:rPr lang="en-US" sz="900" i="1" dirty="0" err="1">
                <a:solidFill>
                  <a:srgbClr val="0C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endParaRPr lang="en-US" sz="900" dirty="0">
              <a:solidFill>
                <a:srgbClr val="0C1B2A"/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195F564-63FF-00E5-FFB0-14076744BD00}"/>
              </a:ext>
            </a:extLst>
          </p:cNvPr>
          <p:cNvGrpSpPr/>
          <p:nvPr/>
        </p:nvGrpSpPr>
        <p:grpSpPr>
          <a:xfrm>
            <a:off x="8453789" y="92226"/>
            <a:ext cx="542891" cy="527714"/>
            <a:chOff x="517242" y="3883937"/>
            <a:chExt cx="2422127" cy="2295270"/>
          </a:xfrm>
        </p:grpSpPr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B94A6425-A25C-37D6-A863-F691986A01D8}"/>
                </a:ext>
              </a:extLst>
            </p:cNvPr>
            <p:cNvSpPr/>
            <p:nvPr/>
          </p:nvSpPr>
          <p:spPr>
            <a:xfrm>
              <a:off x="517242" y="3883937"/>
              <a:ext cx="2422127" cy="2295270"/>
            </a:xfrm>
            <a:prstGeom prst="ellipse">
              <a:avLst/>
            </a:prstGeom>
            <a:solidFill>
              <a:srgbClr val="F9F9F9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38" name="Picture 37" descr="A logo with a bus and pointers&#10;&#10;Description automatically generated">
              <a:extLst>
                <a:ext uri="{FF2B5EF4-FFF2-40B4-BE49-F238E27FC236}">
                  <a16:creationId xmlns:a16="http://schemas.microsoft.com/office/drawing/2014/main" id="{930C90E3-57BA-42B9-A562-48A346CA27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7430" t="9574" r="27408" b="28348"/>
            <a:stretch/>
          </p:blipFill>
          <p:spPr>
            <a:xfrm>
              <a:off x="535348" y="4081828"/>
              <a:ext cx="2404021" cy="1802393"/>
            </a:xfrm>
            <a:prstGeom prst="ellipse">
              <a:avLst/>
            </a:prstGeom>
          </p:spPr>
        </p:pic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B8617A28-5621-FE41-2DDF-6F6A0AA84B5F}"/>
              </a:ext>
            </a:extLst>
          </p:cNvPr>
          <p:cNvSpPr/>
          <p:nvPr/>
        </p:nvSpPr>
        <p:spPr>
          <a:xfrm>
            <a:off x="8419500" y="59361"/>
            <a:ext cx="608535" cy="596520"/>
          </a:xfrm>
          <a:prstGeom prst="ellipse">
            <a:avLst/>
          </a:prstGeom>
          <a:noFill/>
          <a:ln w="19050">
            <a:solidFill>
              <a:srgbClr val="138F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Interação com o Usuário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consulta e saída do sistema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D7E"/>
                </a:solidFill>
              </a:rPr>
              <a:t>7 / 8</a:t>
            </a:r>
            <a:endParaRPr lang="en-US" sz="9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F9F3125-09FB-D2CA-B5AA-16A0FD81761A}"/>
              </a:ext>
            </a:extLst>
          </p:cNvPr>
          <p:cNvGrpSpPr/>
          <p:nvPr/>
        </p:nvGrpSpPr>
        <p:grpSpPr>
          <a:xfrm>
            <a:off x="8453789" y="92226"/>
            <a:ext cx="542891" cy="527714"/>
            <a:chOff x="517242" y="3883937"/>
            <a:chExt cx="2422127" cy="2295270"/>
          </a:xfrm>
        </p:grpSpPr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4308E6FA-5101-A8AB-42A7-ADAC5CAA8D4E}"/>
                </a:ext>
              </a:extLst>
            </p:cNvPr>
            <p:cNvSpPr/>
            <p:nvPr/>
          </p:nvSpPr>
          <p:spPr>
            <a:xfrm>
              <a:off x="517242" y="3883937"/>
              <a:ext cx="2422127" cy="2295270"/>
            </a:xfrm>
            <a:prstGeom prst="ellipse">
              <a:avLst/>
            </a:prstGeom>
            <a:solidFill>
              <a:srgbClr val="F9F9F9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47" name="Picture 46" descr="A logo with a bus and pointers&#10;&#10;Description automatically generated">
              <a:extLst>
                <a:ext uri="{FF2B5EF4-FFF2-40B4-BE49-F238E27FC236}">
                  <a16:creationId xmlns:a16="http://schemas.microsoft.com/office/drawing/2014/main" id="{5C79E580-6B0E-0C0A-EBB8-59CA84C1DC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7430" t="9574" r="27408" b="28348"/>
            <a:stretch/>
          </p:blipFill>
          <p:spPr>
            <a:xfrm>
              <a:off x="535348" y="4081828"/>
              <a:ext cx="2404021" cy="1802393"/>
            </a:xfrm>
            <a:prstGeom prst="ellipse">
              <a:avLst/>
            </a:prstGeom>
          </p:spPr>
        </p:pic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D9651B11-3E34-E939-5900-45CED397E302}"/>
              </a:ext>
            </a:extLst>
          </p:cNvPr>
          <p:cNvSpPr/>
          <p:nvPr/>
        </p:nvSpPr>
        <p:spPr>
          <a:xfrm>
            <a:off x="8419500" y="59361"/>
            <a:ext cx="608535" cy="596520"/>
          </a:xfrm>
          <a:prstGeom prst="ellipse">
            <a:avLst/>
          </a:prstGeom>
          <a:noFill/>
          <a:ln w="19050">
            <a:solidFill>
              <a:srgbClr val="138F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4"/>
          <a:srcRect t="3785"/>
          <a:stretch/>
        </p:blipFill>
        <p:spPr>
          <a:xfrm>
            <a:off x="1961323" y="1073330"/>
            <a:ext cx="5221352" cy="22081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/>
          <a:srcRect t="11920" b="12523"/>
          <a:stretch/>
        </p:blipFill>
        <p:spPr>
          <a:xfrm>
            <a:off x="1720431" y="3368030"/>
            <a:ext cx="5703136" cy="14782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NossaRota — PS 2026.1 UFRJ Analytica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14800" cy="2560320"/>
          </a:xfrm>
          <a:prstGeom prst="rect">
            <a:avLst/>
          </a:prstGeom>
          <a:solidFill>
            <a:srgbClr val="132D4D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114800" cy="640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483 linhas classificadas em 3 perfis de </a:t>
            </a:r>
            <a:r>
              <a:rPr lang="en-US" sz="1100" dirty="0" err="1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</a:t>
            </a: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 </a:t>
            </a:r>
            <a:r>
              <a:rPr lang="en-US" sz="1100" dirty="0" err="1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parametros</a:t>
            </a: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</a:t>
            </a: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00" dirty="0" err="1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037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Silhouette Score 0.37 — separação consistente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24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SP766, 875 e 766 como linhas mais perigosas (Zona Norte / Subúrbio)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0449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 de recomendação com 4 perfis de usuário e justificativa automática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61872"/>
            <a:ext cx="4114800" cy="2560320"/>
          </a:xfrm>
          <a:prstGeom prst="rect">
            <a:avLst/>
          </a:prstGeom>
          <a:solidFill>
            <a:srgbClr val="132D4D"/>
          </a:solidFill>
          <a:ln w="6350">
            <a:solidFill>
              <a:srgbClr val="DDE3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x-none"/>
          </a:p>
        </p:txBody>
      </p:sp>
      <p:sp>
        <p:nvSpPr>
          <p:cNvPr id="13" name="Shape 11"/>
          <p:cNvSpPr/>
          <p:nvPr/>
        </p:nvSpPr>
        <p:spPr>
          <a:xfrm>
            <a:off x="4663440" y="1261872"/>
            <a:ext cx="411480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14" name="Text 12"/>
          <p:cNvSpPr/>
          <p:nvPr/>
        </p:nvSpPr>
        <p:spPr>
          <a:xfrm>
            <a:off x="4800600" y="1371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783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Integrar dados do ISP-RJ (roubo a ônibus por bairro)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2037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Expandir para múltiplos anos do Fogo Cruzado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624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 err="1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Aprimorar</a:t>
            </a: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interface web ou app móvel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0449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Incorporar alertas dinâmicos com GPS em tempo real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005072"/>
            <a:ext cx="8412480" cy="7772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x-none"/>
          </a:p>
        </p:txBody>
      </p:sp>
      <p:sp>
        <p:nvSpPr>
          <p:cNvPr id="20" name="Text 18"/>
          <p:cNvSpPr/>
          <p:nvPr/>
        </p:nvSpPr>
        <p:spPr>
          <a:xfrm>
            <a:off x="502920" y="405993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"Dados públicos que já existem, usados para uma decisão que milhões de cariocas tomam todo dia."</a:t>
            </a:r>
            <a:endParaRPr lang="en-US" sz="13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F6D769A2-3187-2099-C906-0397AC6068CF}"/>
              </a:ext>
            </a:extLst>
          </p:cNvPr>
          <p:cNvSpPr/>
          <p:nvPr/>
        </p:nvSpPr>
        <p:spPr>
          <a:xfrm>
            <a:off x="4798020" y="33755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 err="1">
                <a:solidFill>
                  <a:srgbClr val="D6EAF8"/>
                </a:solidFill>
                <a:latin typeface="Calibri" pitchFamily="34" charset="0"/>
                <a:cs typeface="Calibri" pitchFamily="34" charset="-120"/>
              </a:rPr>
              <a:t>Recomendação</a:t>
            </a:r>
            <a:r>
              <a:rPr lang="en-US" sz="1100" dirty="0">
                <a:solidFill>
                  <a:srgbClr val="D6EAF8"/>
                </a:solidFill>
                <a:latin typeface="Calibri" pitchFamily="34" charset="0"/>
                <a:cs typeface="Calibri" pitchFamily="34" charset="-120"/>
              </a:rPr>
              <a:t> da </a:t>
            </a:r>
            <a:r>
              <a:rPr lang="en-US" sz="1100" dirty="0" err="1">
                <a:solidFill>
                  <a:srgbClr val="D6EAF8"/>
                </a:solidFill>
                <a:latin typeface="Calibri" pitchFamily="34" charset="0"/>
                <a:cs typeface="Calibri" pitchFamily="34" charset="-120"/>
              </a:rPr>
              <a:t>rota</a:t>
            </a:r>
            <a:r>
              <a:rPr lang="en-US" sz="1100" dirty="0">
                <a:solidFill>
                  <a:srgbClr val="D6EAF8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D6EAF8"/>
                </a:solidFill>
                <a:latin typeface="Calibri" pitchFamily="34" charset="0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D6EAF8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D6EAF8"/>
                </a:solidFill>
                <a:latin typeface="Calibri" pitchFamily="34" charset="0"/>
                <a:cs typeface="Calibri" pitchFamily="34" charset="-120"/>
              </a:rPr>
              <a:t>destino</a:t>
            </a:r>
            <a:r>
              <a:rPr lang="en-US" sz="1100" dirty="0">
                <a:solidFill>
                  <a:srgbClr val="D6EAF8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D6EAF8"/>
                </a:solidFill>
                <a:latin typeface="Calibri" pitchFamily="34" charset="0"/>
                <a:cs typeface="Calibri" pitchFamily="34" charset="-120"/>
              </a:rPr>
              <a:t>inicial</a:t>
            </a:r>
            <a:r>
              <a:rPr lang="en-US" sz="1100" dirty="0">
                <a:solidFill>
                  <a:srgbClr val="D6EAF8"/>
                </a:solidFill>
                <a:latin typeface="Calibri" pitchFamily="34" charset="0"/>
                <a:cs typeface="Calibri" pitchFamily="34" charset="-120"/>
              </a:rPr>
              <a:t> e final</a:t>
            </a:r>
            <a:endParaRPr lang="en-US" sz="11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8E9F37-9152-5EF1-AA74-9E702D988C9B}"/>
              </a:ext>
            </a:extLst>
          </p:cNvPr>
          <p:cNvGrpSpPr/>
          <p:nvPr/>
        </p:nvGrpSpPr>
        <p:grpSpPr>
          <a:xfrm>
            <a:off x="8453789" y="92226"/>
            <a:ext cx="542891" cy="527714"/>
            <a:chOff x="517242" y="3883937"/>
            <a:chExt cx="2422127" cy="2295270"/>
          </a:xfrm>
        </p:grpSpPr>
        <p:sp>
          <p:nvSpPr>
            <p:cNvPr id="27" name="Rectangle 15">
              <a:extLst>
                <a:ext uri="{FF2B5EF4-FFF2-40B4-BE49-F238E27FC236}">
                  <a16:creationId xmlns:a16="http://schemas.microsoft.com/office/drawing/2014/main" id="{38D2D348-5A07-B353-6813-D1B44312A9A3}"/>
                </a:ext>
              </a:extLst>
            </p:cNvPr>
            <p:cNvSpPr/>
            <p:nvPr/>
          </p:nvSpPr>
          <p:spPr>
            <a:xfrm>
              <a:off x="517242" y="3883937"/>
              <a:ext cx="2422127" cy="2295270"/>
            </a:xfrm>
            <a:prstGeom prst="ellipse">
              <a:avLst/>
            </a:prstGeom>
            <a:solidFill>
              <a:srgbClr val="F9F9F9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28" name="Picture 27" descr="A logo with a bus and pointers&#10;&#10;Description automatically generated">
              <a:extLst>
                <a:ext uri="{FF2B5EF4-FFF2-40B4-BE49-F238E27FC236}">
                  <a16:creationId xmlns:a16="http://schemas.microsoft.com/office/drawing/2014/main" id="{B9008730-1EE9-8604-C8BA-91AEE68E57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7430" t="9574" r="27408" b="28348"/>
            <a:stretch/>
          </p:blipFill>
          <p:spPr>
            <a:xfrm>
              <a:off x="535348" y="4081828"/>
              <a:ext cx="2404021" cy="1802393"/>
            </a:xfrm>
            <a:prstGeom prst="ellipse">
              <a:avLst/>
            </a:prstGeom>
          </p:spPr>
        </p:pic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55BFDD2-5447-C3C5-EA32-DAD20DFC9E57}"/>
              </a:ext>
            </a:extLst>
          </p:cNvPr>
          <p:cNvSpPr/>
          <p:nvPr/>
        </p:nvSpPr>
        <p:spPr>
          <a:xfrm>
            <a:off x="8419500" y="59361"/>
            <a:ext cx="608535" cy="596520"/>
          </a:xfrm>
          <a:prstGeom prst="ellipse">
            <a:avLst/>
          </a:prstGeom>
          <a:noFill/>
          <a:ln w="19050">
            <a:solidFill>
              <a:srgbClr val="138F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</TotalTime>
  <Words>879</Words>
  <Application>Microsoft Office PowerPoint</Application>
  <PresentationFormat>Apresentação na tela (16:9)</PresentationFormat>
  <Paragraphs>194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Consolas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NossaRota</dc:title>
  <dc:subject>PptxGenJS Presentation</dc:subject>
  <dc:creator>PptxGenJS</dc:creator>
  <cp:lastModifiedBy>Pc</cp:lastModifiedBy>
  <cp:revision>12</cp:revision>
  <dcterms:created xsi:type="dcterms:W3CDTF">2026-05-08T01:48:02Z</dcterms:created>
  <dcterms:modified xsi:type="dcterms:W3CDTF">2026-05-09T01:46:24Z</dcterms:modified>
</cp:coreProperties>
</file>